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0D7C8F">
              <a:alpha val="20000"/>
            </a:srgbClr>
          </a:solidFill>
          <a:ln w="12700">
            <a:solidFill>
              <a:srgbClr val="0D7C8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274320"/>
            <a:ext cx="1280160" cy="1280160"/>
          </a:xfrm>
          <a:prstGeom prst="ellipse">
            <a:avLst/>
          </a:prstGeom>
          <a:solidFill>
            <a:srgbClr val="1AACBF">
              <a:alpha val="30000"/>
            </a:srgbClr>
          </a:solidFill>
          <a:ln w="12700">
            <a:solidFill>
              <a:srgbClr val="1AACB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Francisco Medina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11480" y="171907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Student  ·  Computer Vision  ·  AI Agents  ·  Deep Learning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231136"/>
            <a:ext cx="5303520" cy="2743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359152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Artificial Intel – ITAI 1378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Community College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Hardik Gohel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3493008"/>
            <a:ext cx="1463040" cy="658368"/>
          </a:xfrm>
          <a:prstGeom prst="roundRect">
            <a:avLst>
              <a:gd name="adj" fmla="val 9722"/>
            </a:avLst>
          </a:prstGeom>
          <a:solidFill>
            <a:srgbClr val="0D7C8F">
              <a:alpha val="80000"/>
            </a:srgbClr>
          </a:solidFill>
          <a:ln w="12700">
            <a:solidFill>
              <a:srgbClr val="1AAC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5204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1480" y="38587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3493008"/>
            <a:ext cx="1463040" cy="658368"/>
          </a:xfrm>
          <a:prstGeom prst="roundRect">
            <a:avLst>
              <a:gd name="adj" fmla="val 9722"/>
            </a:avLst>
          </a:prstGeom>
          <a:solidFill>
            <a:srgbClr val="0D7C8F">
              <a:alpha val="80000"/>
            </a:srgbClr>
          </a:solidFill>
          <a:ln w="12700">
            <a:solidFill>
              <a:srgbClr val="1AAC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35204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03120" y="38587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94760" y="3493008"/>
            <a:ext cx="1463040" cy="658368"/>
          </a:xfrm>
          <a:prstGeom prst="roundRect">
            <a:avLst>
              <a:gd name="adj" fmla="val 9722"/>
            </a:avLst>
          </a:prstGeom>
          <a:solidFill>
            <a:srgbClr val="0D7C8F">
              <a:alpha val="80000"/>
            </a:srgbClr>
          </a:solidFill>
          <a:ln w="12700">
            <a:solidFill>
              <a:srgbClr val="1AAC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35204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794760" y="38587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4315968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0D7C8F">
              <a:alpha val="80000"/>
            </a:srgbClr>
          </a:solidFill>
          <a:ln w="12700">
            <a:solidFill>
              <a:srgbClr val="1AAC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3159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github.com/med27-coder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4773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Portfolio  | 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Journey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5720" cy="356616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152144"/>
            <a:ext cx="530352" cy="237744"/>
          </a:xfrm>
          <a:prstGeom prst="roundRect">
            <a:avLst>
              <a:gd name="adj" fmla="val 15385"/>
            </a:avLst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5214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87552" y="11430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Processing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134416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5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· Filtering · Histogram Eq · Journal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84048" y="1746504"/>
            <a:ext cx="530352" cy="237744"/>
          </a:xfrm>
          <a:prstGeom prst="roundRect">
            <a:avLst>
              <a:gd name="adj" fmla="val 15385"/>
            </a:avLst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74650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987552" y="17373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Classical ML Vision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7552" y="193852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5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Feature Engineering · GitHub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2340864"/>
            <a:ext cx="530352" cy="237744"/>
          </a:xfrm>
          <a:prstGeom prst="roundRect">
            <a:avLst>
              <a:gd name="adj" fmla="val 15385"/>
            </a:avLst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4086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87552" y="23317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Neural Network Workshop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253288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5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· Feedforward · SGD · Reflective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4048" y="2935224"/>
            <a:ext cx="530352" cy="237744"/>
          </a:xfrm>
          <a:prstGeom prst="roundRect">
            <a:avLst>
              <a:gd name="adj" fmla="val 15385"/>
            </a:avLst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93522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87552" y="29260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 Chihuahua vs Muffin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312724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5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· MaxPool · DataLoader · Journal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4048" y="3529584"/>
            <a:ext cx="530352" cy="237744"/>
          </a:xfrm>
          <a:prstGeom prst="roundRect">
            <a:avLst>
              <a:gd name="adj" fmla="val 15385"/>
            </a:avLst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52958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87552" y="3520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 Detection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7552" y="372160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5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MobileNet · IoU · Pascal VOC · Journal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84048" y="4123944"/>
            <a:ext cx="530352" cy="237744"/>
          </a:xfrm>
          <a:prstGeom prst="roundRect">
            <a:avLst>
              <a:gd name="adj" fmla="val 15385"/>
            </a:avLst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12394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87552" y="4114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Language Models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7552" y="431596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5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· BLIP · Zero-shot · VQA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868680"/>
            <a:ext cx="27432" cy="40233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9144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(CONT.)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1170432"/>
            <a:ext cx="45720" cy="13716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56048" y="1152144"/>
            <a:ext cx="530352" cy="237744"/>
          </a:xfrm>
          <a:prstGeom prst="roundRect">
            <a:avLst>
              <a:gd name="adj" fmla="val 15385"/>
            </a:avLst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115214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559552" y="11430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with CV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59552" y="1344168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5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· PRA Loop · Autonomous Response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956048" y="1746504"/>
            <a:ext cx="530352" cy="237744"/>
          </a:xfrm>
          <a:prstGeom prst="roundRect">
            <a:avLst>
              <a:gd name="adj" fmla="val 15385"/>
            </a:avLst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174650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559552" y="17373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Framework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59552" y="1938528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5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· Memory · Workflow Orchestration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2340864"/>
            <a:ext cx="530352" cy="237744"/>
          </a:xfrm>
          <a:prstGeom prst="roundRect">
            <a:avLst>
              <a:gd name="adj" fmla="val 15385"/>
            </a:avLst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56048" y="234086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559552" y="23317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 Tracking &amp; Zones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559552" y="2532888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5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IDs · Zone Events · OpenCV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46320" y="2834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46320" y="3090672"/>
            <a:ext cx="45720" cy="1280160"/>
          </a:xfrm>
          <a:prstGeom prst="rect">
            <a:avLst/>
          </a:prstGeom>
          <a:solidFill>
            <a:srgbClr val="1DB88E"/>
          </a:solidFill>
          <a:ln w="12700">
            <a:solidFill>
              <a:srgbClr val="1DB88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56048" y="3072384"/>
            <a:ext cx="530352" cy="237744"/>
          </a:xfrm>
          <a:prstGeom prst="roundRect">
            <a:avLst>
              <a:gd name="adj" fmla="val 15385"/>
            </a:avLst>
          </a:prstGeom>
          <a:solidFill>
            <a:srgbClr val="1DB88E"/>
          </a:solidFill>
          <a:ln w="12700">
            <a:solidFill>
              <a:srgbClr val="1DB88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56048" y="307238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559552" y="30632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CV Essay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559552" y="3264408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 · Sensor fusion · Ethics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956048" y="3666744"/>
            <a:ext cx="530352" cy="237744"/>
          </a:xfrm>
          <a:prstGeom prst="roundRect">
            <a:avLst>
              <a:gd name="adj" fmla="val 15385"/>
            </a:avLst>
          </a:prstGeom>
          <a:solidFill>
            <a:srgbClr val="1DB88E"/>
          </a:solidFill>
          <a:ln w="12700">
            <a:solidFill>
              <a:srgbClr val="1DB88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56048" y="366674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559552" y="36576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Enhancement Skit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559552" y="3858768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Eq · Sharpening · Noise Reduction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0" y="4864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github.com/med27-coder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Featured Projects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98064" cy="4078224"/>
          </a:xfrm>
          <a:prstGeom prst="rect">
            <a:avLst/>
          </a:prstGeom>
          <a:solidFill>
            <a:srgbClr val="0A1E2E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" y="1005840"/>
            <a:ext cx="1188720" cy="219456"/>
          </a:xfrm>
          <a:prstGeom prst="roundRect">
            <a:avLst>
              <a:gd name="adj" fmla="val 16667"/>
            </a:avLst>
          </a:prstGeom>
          <a:solidFill>
            <a:srgbClr val="0D7C8F">
              <a:alpha val="80000"/>
            </a:srgbClr>
          </a:solidFill>
          <a:ln w="12700">
            <a:solidFill>
              <a:srgbClr val="1AAC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0058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L06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664208" y="96926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7C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02336" y="128016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 Detection · L06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" y="1709928"/>
            <a:ext cx="2523744" cy="1828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783080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02336" y="1965960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and classify multiple objects in a single image — answering 'what AND where?' simultaneously.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2336" y="239572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02336" y="2578608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MobileNet V2 (TF Hub) on Pascal VOC 2007. Built IoU calculator from scratch. Fixed silent COCO/VOC label mismatch bug.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2336" y="314553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02336" y="3328416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55.61% precision, 70.32% recall. Lenient IoU (0.30): recall 91.80%. Strict IoU (0.70): precision/recall both dropped ~15%.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4636008"/>
            <a:ext cx="2798064" cy="347472"/>
          </a:xfrm>
          <a:prstGeom prst="rect">
            <a:avLst/>
          </a:prstGeom>
          <a:solidFill>
            <a:srgbClr val="0D7C8F">
              <a:alpha val="75000"/>
            </a:srgbClr>
          </a:solidFill>
          <a:ln w="12700">
            <a:solidFill>
              <a:srgbClr val="0D7C8F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4636008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Hub · SSD MobileNet · IoU · Pascal VOC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27832" y="914400"/>
            <a:ext cx="2798064" cy="4078224"/>
          </a:xfrm>
          <a:prstGeom prst="rect">
            <a:avLst/>
          </a:prstGeom>
          <a:solidFill>
            <a:srgbClr val="0A1E2E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55848" y="1005840"/>
            <a:ext cx="1188720" cy="219456"/>
          </a:xfrm>
          <a:prstGeom prst="roundRect">
            <a:avLst>
              <a:gd name="adj" fmla="val 16667"/>
            </a:avLst>
          </a:prstGeom>
          <a:solidFill>
            <a:srgbClr val="0D7C8F">
              <a:alpha val="80000"/>
            </a:srgbClr>
          </a:solidFill>
          <a:ln w="12700">
            <a:solidFill>
              <a:srgbClr val="1AAC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10058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L09/L11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617720" y="96926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7C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355848" y="128016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+ CV · L09/L11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55848" y="1709928"/>
            <a:ext cx="2523744" cy="1828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1783080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355848" y="1965960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agent that perceives video, reasons about events, and acts autonomously — then track individual objects with persistent IDs.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55848" y="239572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55848" y="2578608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+ PRA loop for L09. YOLOv8 tracker with spatial zone definitions for L11. Zone-crossing events logged with counts and timestamps.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55848" y="314553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355848" y="3328416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monitoring agent (L09) and real-time tracking pipeline (L11) applicable to retail, security, and traffic analytics.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27832" y="4636008"/>
            <a:ext cx="2798064" cy="347472"/>
          </a:xfrm>
          <a:prstGeom prst="rect">
            <a:avLst/>
          </a:prstGeom>
          <a:solidFill>
            <a:srgbClr val="0D7C8F">
              <a:alpha val="75000"/>
            </a:srgbClr>
          </a:solidFill>
          <a:ln w="12700">
            <a:solidFill>
              <a:srgbClr val="0D7C8F">
                <a:alpha val="7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00984" y="4636008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· OpenCV · PRA Loop · Zone Analytics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181344" y="914400"/>
            <a:ext cx="2798064" cy="4078224"/>
          </a:xfrm>
          <a:prstGeom prst="rect">
            <a:avLst/>
          </a:prstGeom>
          <a:solidFill>
            <a:srgbClr val="0A1E2E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1005840"/>
            <a:ext cx="1188720" cy="219456"/>
          </a:xfrm>
          <a:prstGeom prst="roundRect">
            <a:avLst>
              <a:gd name="adj" fmla="val 16667"/>
            </a:avLst>
          </a:prstGeom>
          <a:solidFill>
            <a:srgbClr val="0D7C8F">
              <a:alpha val="80000"/>
            </a:srgbClr>
          </a:solidFill>
          <a:ln w="12700">
            <a:solidFill>
              <a:srgbClr val="1AAC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10058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L08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571232" y="96926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7C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309360" y="128016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Language Models · L08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09360" y="1709928"/>
            <a:ext cx="2523744" cy="1828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1783080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309360" y="1965960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and use AI models that process both images and text — enabling zero-shot classification, captioning, and visual Q&amp;A.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09360" y="239572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309360" y="2578608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for zero-shot classification via shared image-text embeddings. BLIP for generative image captioning and VQA without task-specific training.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09360" y="314553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309360" y="3328416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training required — pre-trained weights generalized directly to new images. VQA returned accurate answers on unseen image-question pairs.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81344" y="4636008"/>
            <a:ext cx="2798064" cy="347472"/>
          </a:xfrm>
          <a:prstGeom prst="rect">
            <a:avLst/>
          </a:prstGeom>
          <a:solidFill>
            <a:srgbClr val="0D7C8F">
              <a:alpha val="75000"/>
            </a:srgbClr>
          </a:solidFill>
          <a:ln w="12700">
            <a:solidFill>
              <a:srgbClr val="0D7C8F">
                <a:alpha val="7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54496" y="4636008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· CLIP · BLIP · Zero-shot · VQA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0" y="49194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github.com/med27-coder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&amp; Competencies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54864" cy="923544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9601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7C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COMPUTER VISION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" y="12344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— pixels, filtering, convolution, histogram equalization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52704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detection: SSD MobileNet V2 · IoU · bounding boxes · TF Hub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81965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— real-time detection, tracking, persistent object IDs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176272"/>
            <a:ext cx="54864" cy="923544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17627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7C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LEARNING &amp; VISION MODELS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4505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(Conv2d, MaxPool) · feedforward networks (PyTorch)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7432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Language Models: CLIP (zero-shot) · BLIP (captioning, VQA)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303580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pipeline: feature extraction + Scikit-learn classifiers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383280"/>
            <a:ext cx="54864" cy="923544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3832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7C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" y="36576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Perception-Reasoning-Action (PRA) loop · visual monitoring agents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" y="395020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Zone-based spatial analytics — crossing events, dwell time, counts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42428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frameworks: tools, memory, workflow orchestration from scratch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914400"/>
            <a:ext cx="3063240" cy="3977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10241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STACK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60720" y="1389888"/>
            <a:ext cx="3063240" cy="347472"/>
          </a:xfrm>
          <a:prstGeom prst="rect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0448" y="139903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86600" y="13990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60720" y="1792224"/>
            <a:ext cx="3063240" cy="347472"/>
          </a:xfrm>
          <a:prstGeom prst="rect">
            <a:avLst/>
          </a:prstGeom>
          <a:solidFill>
            <a:srgbClr val="0A1A2C"/>
          </a:solidFill>
          <a:ln w="12700">
            <a:solidFill>
              <a:srgbClr val="0A1A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70448" y="18013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Libraries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86600" y="18013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· YOLOv8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760720" y="2194560"/>
            <a:ext cx="3063240" cy="347472"/>
          </a:xfrm>
          <a:prstGeom prst="rect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70448" y="22037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Frameworks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86600" y="220370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· TensorFlow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60720" y="2596896"/>
            <a:ext cx="3063240" cy="347472"/>
          </a:xfrm>
          <a:prstGeom prst="rect">
            <a:avLst/>
          </a:prstGeom>
          <a:solidFill>
            <a:srgbClr val="0A1A2C"/>
          </a:solidFill>
          <a:ln w="12700">
            <a:solidFill>
              <a:srgbClr val="0A1A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70448" y="26060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86600" y="26060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· BLIP · HuggingFace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60720" y="2999232"/>
            <a:ext cx="3063240" cy="347472"/>
          </a:xfrm>
          <a:prstGeom prst="rect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70448" y="30083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86600" y="300837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Scikit-image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760720" y="3401568"/>
            <a:ext cx="3063240" cy="347472"/>
          </a:xfrm>
          <a:prstGeom prst="rect">
            <a:avLst/>
          </a:prstGeom>
          <a:solidFill>
            <a:srgbClr val="0A1A2C"/>
          </a:solidFill>
          <a:ln w="12700">
            <a:solidFill>
              <a:srgbClr val="0A1A2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70448" y="34107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86600" y="34107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· Matplotlib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760720" y="3803904"/>
            <a:ext cx="3063240" cy="347472"/>
          </a:xfrm>
          <a:prstGeom prst="rect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70448" y="3813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086600" y="3813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· Google Colab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760720" y="4206240"/>
            <a:ext cx="3063240" cy="347472"/>
          </a:xfrm>
          <a:prstGeom prst="rect">
            <a:avLst/>
          </a:prstGeom>
          <a:solidFill>
            <a:srgbClr val="0A1A2C"/>
          </a:solidFill>
          <a:ln w="12700">
            <a:solidFill>
              <a:srgbClr val="0A1A2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70448" y="421538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086600" y="421538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GitHub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0" y="487375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github.com/med27-coder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474720"/>
            <a:ext cx="2743200" cy="2743200"/>
          </a:xfrm>
          <a:prstGeom prst="ellipse">
            <a:avLst/>
          </a:prstGeom>
          <a:solidFill>
            <a:srgbClr val="0D7C8F">
              <a:alpha val="15000"/>
            </a:srgbClr>
          </a:solidFill>
          <a:ln w="12700">
            <a:solidFill>
              <a:srgbClr val="0D7C8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3931920"/>
            <a:ext cx="1645920" cy="1645920"/>
          </a:xfrm>
          <a:prstGeom prst="ellipse">
            <a:avLst/>
          </a:prstGeom>
          <a:solidFill>
            <a:srgbClr val="1AACBF">
              <a:alpha val="22000"/>
            </a:srgbClr>
          </a:solidFill>
          <a:ln w="12700">
            <a:solidFill>
              <a:srgbClr val="1AACBF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9260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Reflection &amp; Next Steps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" y="914400"/>
            <a:ext cx="3657600" cy="2743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424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389888"/>
            <a:ext cx="182880" cy="182880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53312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ITAI 1378 showed me that perception is the hardest part of intelligence — every image is just numbers, and building a machine that understands them requires deliberate design at every layer.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1865376"/>
            <a:ext cx="182880" cy="182880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828800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lesson: a model's accuracy means nothing if its evaluation is wrong. The silent COCO/VOC label mismatch in L06 drove all metrics to zero — finding and fixing it taught more than any correct result would have.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340864"/>
            <a:ext cx="182880" cy="182880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304288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from a pixel filter (L02) to a real-time tracking agent with zone analytics (L11) in a single course showed me how quickly the building blocks compose into production-grade systems.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2926080"/>
            <a:ext cx="3657600" cy="2743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017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" y="333756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Learning — ITAI 2376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35387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models, RL agents, Transformers, GANs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375818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NLP — ITAI 2373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395935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in depth, sentiment analysis, chatbot development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" y="417880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Science — ITAI 2377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" y="4379976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systems, responsible AI, real-world deployment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1051560"/>
            <a:ext cx="2880360" cy="2697480"/>
          </a:xfrm>
          <a:prstGeom prst="rect">
            <a:avLst/>
          </a:prstGeom>
          <a:solidFill>
            <a:srgbClr val="071829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117043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5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80760" y="15361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80760" y="1737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github.com/med27-coder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21305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80760" y="2331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franciscomed927@gmail.com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2724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80760" y="29260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francisco-medina-9b015b380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0" y="477316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Medina  ·  ITAI 1378  ·  Spring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Portfolio – ITAI 1378</dc:title>
  <dc:subject>PptxGenJS Presentation</dc:subject>
  <dc:creator>PptxGenJS</dc:creator>
  <cp:lastModifiedBy>PptxGenJS</cp:lastModifiedBy>
  <cp:revision>1</cp:revision>
  <dcterms:created xsi:type="dcterms:W3CDTF">2026-05-12T00:07:42Z</dcterms:created>
  <dcterms:modified xsi:type="dcterms:W3CDTF">2026-05-12T00:07:42Z</dcterms:modified>
</cp:coreProperties>
</file>