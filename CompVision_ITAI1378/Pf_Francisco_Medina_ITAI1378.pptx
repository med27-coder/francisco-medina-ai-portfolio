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7"/>
  </p:notesMasterIdLst>
  <p:sldIdLst>
    <p:sldId id="256" r:id="rId2"/>
    <p:sldId id="257" r:id="rId3"/>
    <p:sldId id="258" r:id="rId4"/>
    <p:sldId id="259" r:id="rId5"/>
    <p:sldId id="260" r:id="rId6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21" d="100"/>
          <a:sy n="121" d="100"/>
        </p:scale>
        <p:origin x="48" y="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37551400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linkedin.com/in/francisco-medina-9b015b380/" TargetMode="Externa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234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7C8F"/>
          </a:solidFill>
          <a:ln w="12700">
            <a:solidFill>
              <a:srgbClr val="0D7C8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7498080" y="-731520"/>
            <a:ext cx="2286000" cy="2286000"/>
          </a:xfrm>
          <a:prstGeom prst="ellipse">
            <a:avLst/>
          </a:prstGeom>
          <a:solidFill>
            <a:srgbClr val="0D7C8F">
              <a:alpha val="20000"/>
            </a:srgbClr>
          </a:solidFill>
          <a:ln w="12700">
            <a:solidFill>
              <a:srgbClr val="0D7C8F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8046720" y="-274320"/>
            <a:ext cx="1280160" cy="1280160"/>
          </a:xfrm>
          <a:prstGeom prst="ellipse">
            <a:avLst/>
          </a:prstGeom>
          <a:solidFill>
            <a:srgbClr val="1AACBF">
              <a:alpha val="30000"/>
            </a:srgbClr>
          </a:solidFill>
          <a:ln w="12700">
            <a:solidFill>
              <a:srgbClr val="1AACBF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411480" y="960120"/>
            <a:ext cx="8321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Francisco Medina</a:t>
            </a:r>
            <a:endParaRPr lang="en-US" sz="4200" dirty="0"/>
          </a:p>
        </p:txBody>
      </p:sp>
      <p:sp>
        <p:nvSpPr>
          <p:cNvPr id="6" name="Text 4"/>
          <p:cNvSpPr/>
          <p:nvPr/>
        </p:nvSpPr>
        <p:spPr>
          <a:xfrm>
            <a:off x="411480" y="1755648"/>
            <a:ext cx="8321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i="1" dirty="0">
                <a:solidFill>
                  <a:srgbClr val="1AAC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Applied AI Student  ·  Computer Vision  ·  Deep Learning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411480" y="2267712"/>
            <a:ext cx="5303520" cy="27432"/>
          </a:xfrm>
          <a:prstGeom prst="rect">
            <a:avLst/>
          </a:prstGeom>
          <a:solidFill>
            <a:srgbClr val="0D7C8F"/>
          </a:solidFill>
          <a:ln w="12700">
            <a:solidFill>
              <a:srgbClr val="0D7C8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411480" y="2395728"/>
            <a:ext cx="68580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8DAF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Program:  </a:t>
            </a: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Applied AI &amp; Robotics – ITAI 1378</a:t>
            </a:r>
            <a:endParaRPr lang="en-US" sz="1500" dirty="0"/>
          </a:p>
          <a:p>
            <a:pPr marL="0" indent="0">
              <a:buNone/>
            </a:pPr>
            <a:r>
              <a:rPr lang="en-US" sz="1500" dirty="0">
                <a:solidFill>
                  <a:srgbClr val="8DAF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Institution:  </a:t>
            </a:r>
            <a:endParaRPr lang="en-US" sz="1500" dirty="0"/>
          </a:p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Houston Community College</a:t>
            </a:r>
            <a:endParaRPr lang="en-US" sz="1500" dirty="0"/>
          </a:p>
          <a:p>
            <a:pPr marL="0" indent="0">
              <a:buNone/>
            </a:pPr>
            <a:r>
              <a:rPr lang="en-US" sz="1500" dirty="0">
                <a:solidFill>
                  <a:srgbClr val="8DAF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Instructor:  </a:t>
            </a:r>
            <a:endParaRPr lang="en-US" sz="1500" dirty="0"/>
          </a:p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Professor Hardik Gohel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411480" y="3657600"/>
            <a:ext cx="2926080" cy="512064"/>
          </a:xfrm>
          <a:prstGeom prst="roundRect">
            <a:avLst>
              <a:gd name="adj" fmla="val 14286"/>
            </a:avLst>
          </a:prstGeom>
          <a:solidFill>
            <a:srgbClr val="0D7C8F">
              <a:alpha val="80000"/>
            </a:srgbClr>
          </a:solidFill>
          <a:ln w="12700">
            <a:solidFill>
              <a:srgbClr val="1AACB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411480" y="3657600"/>
            <a:ext cx="29260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⬡  github.com/med27-coder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11480" y="4663440"/>
            <a:ext cx="8321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DAF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Computer Vision Portfolio  |  Spring 2026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0F4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2342"/>
          </a:solidFill>
          <a:ln w="12700">
            <a:solidFill>
              <a:srgbClr val="0A234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8412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Journey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658368" y="960120"/>
            <a:ext cx="54864" cy="3657600"/>
          </a:xfrm>
          <a:prstGeom prst="rect">
            <a:avLst/>
          </a:prstGeom>
          <a:solidFill>
            <a:srgbClr val="0D7C8F"/>
          </a:solidFill>
          <a:ln w="12700">
            <a:solidFill>
              <a:srgbClr val="0D7C8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548640" y="923544"/>
            <a:ext cx="274320" cy="274320"/>
          </a:xfrm>
          <a:prstGeom prst="ellipse">
            <a:avLst/>
          </a:prstGeom>
          <a:solidFill>
            <a:srgbClr val="0D7C8F"/>
          </a:solidFill>
          <a:ln w="12700">
            <a:solidFill>
              <a:srgbClr val="0D7C8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960120" y="905256"/>
            <a:ext cx="566928" cy="274320"/>
          </a:xfrm>
          <a:prstGeom prst="roundRect">
            <a:avLst>
              <a:gd name="adj" fmla="val 16667"/>
            </a:avLst>
          </a:prstGeom>
          <a:solidFill>
            <a:srgbClr val="0D7C8F"/>
          </a:solidFill>
          <a:ln w="12700">
            <a:solidFill>
              <a:srgbClr val="0D7C8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960120" y="90525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L01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600200" y="896112"/>
            <a:ext cx="4114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A234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Real-World CV Applications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600200" y="1106424"/>
            <a:ext cx="7132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4A6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Essay — Self-Driving Cars &amp; Sensor Fusion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548640" y="1426464"/>
            <a:ext cx="274320" cy="274320"/>
          </a:xfrm>
          <a:prstGeom prst="ellipse">
            <a:avLst/>
          </a:prstGeom>
          <a:solidFill>
            <a:srgbClr val="0D7C8F"/>
          </a:solidFill>
          <a:ln w="12700">
            <a:solidFill>
              <a:srgbClr val="0D7C8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960120" y="1408176"/>
            <a:ext cx="566928" cy="274320"/>
          </a:xfrm>
          <a:prstGeom prst="roundRect">
            <a:avLst>
              <a:gd name="adj" fmla="val 16667"/>
            </a:avLst>
          </a:prstGeom>
          <a:solidFill>
            <a:srgbClr val="0D7C8F"/>
          </a:solidFill>
          <a:ln w="12700">
            <a:solidFill>
              <a:srgbClr val="0D7C8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960120" y="140817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L02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1600200" y="1399032"/>
            <a:ext cx="4114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A234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Image Processing Lab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1600200" y="1609344"/>
            <a:ext cx="7132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4A6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OpenCV · NumPy · Filtering · Color Spaces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548640" y="1929384"/>
            <a:ext cx="274320" cy="274320"/>
          </a:xfrm>
          <a:prstGeom prst="ellipse">
            <a:avLst/>
          </a:prstGeom>
          <a:solidFill>
            <a:srgbClr val="0D7C8F"/>
          </a:solidFill>
          <a:ln w="12700">
            <a:solidFill>
              <a:srgbClr val="0D7C8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960120" y="1911096"/>
            <a:ext cx="566928" cy="274320"/>
          </a:xfrm>
          <a:prstGeom prst="roundRect">
            <a:avLst>
              <a:gd name="adj" fmla="val 16667"/>
            </a:avLst>
          </a:prstGeom>
          <a:solidFill>
            <a:srgbClr val="0D7C8F"/>
          </a:solidFill>
          <a:ln w="12700">
            <a:solidFill>
              <a:srgbClr val="0D7C8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960120" y="191109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L03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1600200" y="1901952"/>
            <a:ext cx="4114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A234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Classical ML for Vision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1600200" y="2112264"/>
            <a:ext cx="7132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4A6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Scikit-learn · Feature Engineering · SVM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548640" y="2432304"/>
            <a:ext cx="274320" cy="274320"/>
          </a:xfrm>
          <a:prstGeom prst="ellipse">
            <a:avLst/>
          </a:prstGeom>
          <a:solidFill>
            <a:srgbClr val="0D7C8F"/>
          </a:solidFill>
          <a:ln w="12700">
            <a:solidFill>
              <a:srgbClr val="0D7C8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Shape 19"/>
          <p:cNvSpPr/>
          <p:nvPr/>
        </p:nvSpPr>
        <p:spPr>
          <a:xfrm>
            <a:off x="960120" y="2414016"/>
            <a:ext cx="566928" cy="274320"/>
          </a:xfrm>
          <a:prstGeom prst="roundRect">
            <a:avLst>
              <a:gd name="adj" fmla="val 16667"/>
            </a:avLst>
          </a:prstGeom>
          <a:solidFill>
            <a:srgbClr val="0D7C8F"/>
          </a:solidFill>
          <a:ln w="12700">
            <a:solidFill>
              <a:srgbClr val="0D7C8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960120" y="241401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L04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1600200" y="2404872"/>
            <a:ext cx="4114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A234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Neural Network Workshop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1600200" y="2615184"/>
            <a:ext cx="7132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4A6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PyTorch · Feedforward Net · SGD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548640" y="2935224"/>
            <a:ext cx="274320" cy="274320"/>
          </a:xfrm>
          <a:prstGeom prst="ellipse">
            <a:avLst/>
          </a:prstGeom>
          <a:solidFill>
            <a:srgbClr val="1AACBF"/>
          </a:solidFill>
          <a:ln w="12700">
            <a:solidFill>
              <a:srgbClr val="1AACB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Shape 24"/>
          <p:cNvSpPr/>
          <p:nvPr/>
        </p:nvSpPr>
        <p:spPr>
          <a:xfrm>
            <a:off x="960120" y="2916936"/>
            <a:ext cx="566928" cy="274320"/>
          </a:xfrm>
          <a:prstGeom prst="roundRect">
            <a:avLst>
              <a:gd name="adj" fmla="val 16667"/>
            </a:avLst>
          </a:prstGeom>
          <a:solidFill>
            <a:srgbClr val="1AACBF"/>
          </a:solidFill>
          <a:ln w="12700">
            <a:solidFill>
              <a:srgbClr val="1AACB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960120" y="291693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CNN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1600200" y="2907792"/>
            <a:ext cx="4114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A234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CNN Chihuahua vs Muffin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1600200" y="3118104"/>
            <a:ext cx="7132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4A6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Conv2d · MaxPool · Transfer Learning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548640" y="3438144"/>
            <a:ext cx="274320" cy="274320"/>
          </a:xfrm>
          <a:prstGeom prst="ellipse">
            <a:avLst/>
          </a:prstGeom>
          <a:solidFill>
            <a:srgbClr val="1AACBF"/>
          </a:solidFill>
          <a:ln w="12700">
            <a:solidFill>
              <a:srgbClr val="1AACB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Shape 29"/>
          <p:cNvSpPr/>
          <p:nvPr/>
        </p:nvSpPr>
        <p:spPr>
          <a:xfrm>
            <a:off x="960120" y="3419856"/>
            <a:ext cx="566928" cy="274320"/>
          </a:xfrm>
          <a:prstGeom prst="roundRect">
            <a:avLst>
              <a:gd name="adj" fmla="val 16667"/>
            </a:avLst>
          </a:prstGeom>
          <a:solidFill>
            <a:srgbClr val="1AACBF"/>
          </a:solidFill>
          <a:ln w="12700">
            <a:solidFill>
              <a:srgbClr val="1AACB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Text 30"/>
          <p:cNvSpPr/>
          <p:nvPr/>
        </p:nvSpPr>
        <p:spPr>
          <a:xfrm>
            <a:off x="960120" y="341985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L06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1600200" y="3410712"/>
            <a:ext cx="4114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A234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Object Detection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1600200" y="3621024"/>
            <a:ext cx="7132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4A6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TensorFlow Hub · Bounding Boxes · COCO</a:t>
            </a:r>
            <a:endParaRPr lang="en-US" sz="950" dirty="0"/>
          </a:p>
        </p:txBody>
      </p:sp>
      <p:sp>
        <p:nvSpPr>
          <p:cNvPr id="35" name="Shape 33"/>
          <p:cNvSpPr/>
          <p:nvPr/>
        </p:nvSpPr>
        <p:spPr>
          <a:xfrm>
            <a:off x="548640" y="3941064"/>
            <a:ext cx="274320" cy="274320"/>
          </a:xfrm>
          <a:prstGeom prst="ellipse">
            <a:avLst/>
          </a:prstGeom>
          <a:solidFill>
            <a:srgbClr val="1AACBF"/>
          </a:solidFill>
          <a:ln w="12700">
            <a:solidFill>
              <a:srgbClr val="1AACB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6" name="Shape 34"/>
          <p:cNvSpPr/>
          <p:nvPr/>
        </p:nvSpPr>
        <p:spPr>
          <a:xfrm>
            <a:off x="960120" y="3922776"/>
            <a:ext cx="566928" cy="274320"/>
          </a:xfrm>
          <a:prstGeom prst="roundRect">
            <a:avLst>
              <a:gd name="adj" fmla="val 16667"/>
            </a:avLst>
          </a:prstGeom>
          <a:solidFill>
            <a:srgbClr val="1AACBF"/>
          </a:solidFill>
          <a:ln w="12700">
            <a:solidFill>
              <a:srgbClr val="1AACB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7" name="Text 35"/>
          <p:cNvSpPr/>
          <p:nvPr/>
        </p:nvSpPr>
        <p:spPr>
          <a:xfrm>
            <a:off x="960120" y="392277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L09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1600200" y="3913632"/>
            <a:ext cx="4114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A234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AI Agent + Computer Vision</a:t>
            </a:r>
            <a:endParaRPr lang="en-US" sz="1200" dirty="0"/>
          </a:p>
        </p:txBody>
      </p:sp>
      <p:sp>
        <p:nvSpPr>
          <p:cNvPr id="39" name="Text 37"/>
          <p:cNvSpPr/>
          <p:nvPr/>
        </p:nvSpPr>
        <p:spPr>
          <a:xfrm>
            <a:off x="1600200" y="4123944"/>
            <a:ext cx="7132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4A6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YOLOv8 · PRA Loop · Autonomous Response</a:t>
            </a:r>
            <a:endParaRPr lang="en-US" sz="950" dirty="0"/>
          </a:p>
        </p:txBody>
      </p:sp>
      <p:sp>
        <p:nvSpPr>
          <p:cNvPr id="40" name="Shape 38"/>
          <p:cNvSpPr/>
          <p:nvPr/>
        </p:nvSpPr>
        <p:spPr>
          <a:xfrm>
            <a:off x="548640" y="4443984"/>
            <a:ext cx="274320" cy="274320"/>
          </a:xfrm>
          <a:prstGeom prst="ellipse">
            <a:avLst/>
          </a:prstGeom>
          <a:solidFill>
            <a:srgbClr val="1AACBF"/>
          </a:solidFill>
          <a:ln w="12700">
            <a:solidFill>
              <a:srgbClr val="1AACB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1" name="Shape 39"/>
          <p:cNvSpPr/>
          <p:nvPr/>
        </p:nvSpPr>
        <p:spPr>
          <a:xfrm>
            <a:off x="960120" y="4425696"/>
            <a:ext cx="566928" cy="274320"/>
          </a:xfrm>
          <a:prstGeom prst="roundRect">
            <a:avLst>
              <a:gd name="adj" fmla="val 16667"/>
            </a:avLst>
          </a:prstGeom>
          <a:solidFill>
            <a:srgbClr val="1AACBF"/>
          </a:solidFill>
          <a:ln w="12700">
            <a:solidFill>
              <a:srgbClr val="1AACB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2" name="Text 40"/>
          <p:cNvSpPr/>
          <p:nvPr/>
        </p:nvSpPr>
        <p:spPr>
          <a:xfrm>
            <a:off x="960120" y="442569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L10</a:t>
            </a:r>
            <a:endParaRPr lang="en-US" sz="900" dirty="0"/>
          </a:p>
        </p:txBody>
      </p:sp>
      <p:sp>
        <p:nvSpPr>
          <p:cNvPr id="43" name="Text 41"/>
          <p:cNvSpPr/>
          <p:nvPr/>
        </p:nvSpPr>
        <p:spPr>
          <a:xfrm>
            <a:off x="1600200" y="4416552"/>
            <a:ext cx="4114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A234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Agent Framework</a:t>
            </a:r>
            <a:endParaRPr lang="en-US" sz="1200" dirty="0"/>
          </a:p>
        </p:txBody>
      </p:sp>
      <p:sp>
        <p:nvSpPr>
          <p:cNvPr id="44" name="Text 42"/>
          <p:cNvSpPr/>
          <p:nvPr/>
        </p:nvSpPr>
        <p:spPr>
          <a:xfrm>
            <a:off x="1600200" y="4626864"/>
            <a:ext cx="7132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4A6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Tools · Memory · Workflow Orchestration</a:t>
            </a:r>
            <a:endParaRPr lang="en-US" sz="950" dirty="0"/>
          </a:p>
        </p:txBody>
      </p:sp>
      <p:sp>
        <p:nvSpPr>
          <p:cNvPr id="45" name="Shape 43"/>
          <p:cNvSpPr/>
          <p:nvPr/>
        </p:nvSpPr>
        <p:spPr>
          <a:xfrm>
            <a:off x="6217920" y="960120"/>
            <a:ext cx="2651760" cy="3474720"/>
          </a:xfrm>
          <a:prstGeom prst="rect">
            <a:avLst/>
          </a:prstGeom>
          <a:solidFill>
            <a:srgbClr val="0A2342"/>
          </a:solidFill>
          <a:ln w="12700">
            <a:solidFill>
              <a:srgbClr val="0A234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6" name="Text 44"/>
          <p:cNvSpPr/>
          <p:nvPr/>
        </p:nvSpPr>
        <p:spPr>
          <a:xfrm>
            <a:off x="6217920" y="1078992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kern="0" spc="300" dirty="0">
                <a:solidFill>
                  <a:srgbClr val="1AAC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CAPSTONE</a:t>
            </a:r>
            <a:endParaRPr lang="en-US" sz="900" dirty="0"/>
          </a:p>
        </p:txBody>
      </p:sp>
      <p:sp>
        <p:nvSpPr>
          <p:cNvPr id="47" name="Text 45"/>
          <p:cNvSpPr/>
          <p:nvPr/>
        </p:nvSpPr>
        <p:spPr>
          <a:xfrm>
            <a:off x="6217920" y="1389888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L11</a:t>
            </a:r>
            <a:endParaRPr lang="en-US" sz="3600" dirty="0"/>
          </a:p>
        </p:txBody>
      </p:sp>
      <p:sp>
        <p:nvSpPr>
          <p:cNvPr id="48" name="Text 46"/>
          <p:cNvSpPr/>
          <p:nvPr/>
        </p:nvSpPr>
        <p:spPr>
          <a:xfrm>
            <a:off x="6217920" y="1920240"/>
            <a:ext cx="265176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Real-Time Object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Tracking &amp; Zone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Analytics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6217920" y="2788920"/>
            <a:ext cx="2651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AAC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YOLOv8 · Persistent IDs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1AAC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Zone-Based Events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1AAC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OpenCV</a:t>
            </a:r>
            <a:endParaRPr lang="en-US" sz="1000" dirty="0"/>
          </a:p>
        </p:txBody>
      </p:sp>
      <p:sp>
        <p:nvSpPr>
          <p:cNvPr id="50" name="Shape 48"/>
          <p:cNvSpPr/>
          <p:nvPr/>
        </p:nvSpPr>
        <p:spPr>
          <a:xfrm>
            <a:off x="6446520" y="3456432"/>
            <a:ext cx="2194560" cy="27432"/>
          </a:xfrm>
          <a:prstGeom prst="rect">
            <a:avLst/>
          </a:prstGeom>
          <a:solidFill>
            <a:srgbClr val="0D7C8F"/>
          </a:solidFill>
          <a:ln w="12700">
            <a:solidFill>
              <a:srgbClr val="0D7C8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1" name="Text 49"/>
          <p:cNvSpPr/>
          <p:nvPr/>
        </p:nvSpPr>
        <p:spPr>
          <a:xfrm>
            <a:off x="6217920" y="3520440"/>
            <a:ext cx="2651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i="1" dirty="0">
                <a:solidFill>
                  <a:srgbClr val="8DAF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Spring 2026</a:t>
            </a:r>
            <a:endParaRPr lang="en-US" sz="900" dirty="0"/>
          </a:p>
        </p:txBody>
      </p:sp>
      <p:sp>
        <p:nvSpPr>
          <p:cNvPr id="52" name="Text 50"/>
          <p:cNvSpPr/>
          <p:nvPr/>
        </p:nvSpPr>
        <p:spPr>
          <a:xfrm>
            <a:off x="6217920" y="4754880"/>
            <a:ext cx="2651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8DAF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github.com/med27-coder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7182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D7C8F"/>
          </a:solidFill>
          <a:ln w="12700">
            <a:solidFill>
              <a:srgbClr val="0D7C8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8412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Featured Projects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274320" y="914400"/>
            <a:ext cx="2798064" cy="4041648"/>
          </a:xfrm>
          <a:prstGeom prst="rect">
            <a:avLst/>
          </a:prstGeom>
          <a:solidFill>
            <a:srgbClr val="0D1E2E"/>
          </a:solidFill>
          <a:ln w="12700">
            <a:solidFill>
              <a:srgbClr val="0D7C8F"/>
            </a:solidFill>
            <a:prstDash val="solid"/>
          </a:ln>
          <a:effectLst>
            <a:outerShdw blurRad="101600" dist="38100" dir="81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402336" y="987552"/>
            <a:ext cx="777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D7C8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01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402336" y="1463040"/>
            <a:ext cx="25968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CNN — Chihuahua vs Muffin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402336" y="1938528"/>
            <a:ext cx="2523744" cy="18288"/>
          </a:xfrm>
          <a:prstGeom prst="rect">
            <a:avLst/>
          </a:prstGeom>
          <a:solidFill>
            <a:srgbClr val="0D7C8F"/>
          </a:solidFill>
          <a:ln w="12700">
            <a:solidFill>
              <a:srgbClr val="0D7C8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402336" y="2011680"/>
            <a:ext cx="25968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kern="0" spc="150" dirty="0">
                <a:solidFill>
                  <a:srgbClr val="1AAC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402336" y="2194560"/>
            <a:ext cx="259689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F0F4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Classify visually similar images using a Convolutional Neural Network.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402336" y="2578608"/>
            <a:ext cx="25968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kern="0" spc="150" dirty="0">
                <a:solidFill>
                  <a:srgbClr val="1AAC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APPROACH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402336" y="2761488"/>
            <a:ext cx="259689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F0F4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CNN with Conv2d, MaxPool, ReLU, and Softmax in PyTorch. Trained on augmented dataset with cross-entropy loss and SGD.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402336" y="3337560"/>
            <a:ext cx="25968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kern="0" spc="150" dirty="0">
                <a:solidFill>
                  <a:srgbClr val="1AAC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402336" y="3520440"/>
            <a:ext cx="259689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F0F4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Outperformed baseline feedforward network. Validation loss converged steadily across epochs.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274320" y="4608576"/>
            <a:ext cx="2798064" cy="347472"/>
          </a:xfrm>
          <a:prstGeom prst="rect">
            <a:avLst/>
          </a:prstGeom>
          <a:solidFill>
            <a:srgbClr val="0D7C8F">
              <a:alpha val="75000"/>
            </a:srgbClr>
          </a:solidFill>
          <a:ln w="12700">
            <a:solidFill>
              <a:srgbClr val="0D7C8F">
                <a:alpha val="7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347472" y="4608576"/>
            <a:ext cx="26883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PyTorch · CNN · DataLoader · Matplotlib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3227832" y="914400"/>
            <a:ext cx="2798064" cy="4041648"/>
          </a:xfrm>
          <a:prstGeom prst="rect">
            <a:avLst/>
          </a:prstGeom>
          <a:solidFill>
            <a:srgbClr val="0D1E2E"/>
          </a:solidFill>
          <a:ln w="12700">
            <a:solidFill>
              <a:srgbClr val="0D7C8F"/>
            </a:solidFill>
            <a:prstDash val="solid"/>
          </a:ln>
          <a:effectLst>
            <a:outerShdw blurRad="101600" dist="38100" dir="81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3355848" y="987552"/>
            <a:ext cx="777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D7C8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02</a:t>
            </a:r>
            <a:endParaRPr lang="en-US" sz="3000" dirty="0"/>
          </a:p>
        </p:txBody>
      </p:sp>
      <p:sp>
        <p:nvSpPr>
          <p:cNvPr id="18" name="Text 16"/>
          <p:cNvSpPr/>
          <p:nvPr/>
        </p:nvSpPr>
        <p:spPr>
          <a:xfrm>
            <a:off x="3355848" y="1463040"/>
            <a:ext cx="25968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AI Visual Monitoring Agent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3355848" y="1938528"/>
            <a:ext cx="2523744" cy="18288"/>
          </a:xfrm>
          <a:prstGeom prst="rect">
            <a:avLst/>
          </a:prstGeom>
          <a:solidFill>
            <a:srgbClr val="0D7C8F"/>
          </a:solidFill>
          <a:ln w="12700">
            <a:solidFill>
              <a:srgbClr val="0D7C8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3355848" y="2011680"/>
            <a:ext cx="25968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kern="0" spc="150" dirty="0">
                <a:solidFill>
                  <a:srgbClr val="1AAC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3355848" y="2194560"/>
            <a:ext cx="259689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F0F4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an agent that perceives a video stream and responds to events autonomously.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3355848" y="2578608"/>
            <a:ext cx="25968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kern="0" spc="150" dirty="0">
                <a:solidFill>
                  <a:srgbClr val="1AAC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APPROACH</a:t>
            </a:r>
            <a:endParaRPr lang="en-US" sz="750" dirty="0"/>
          </a:p>
        </p:txBody>
      </p:sp>
      <p:sp>
        <p:nvSpPr>
          <p:cNvPr id="23" name="Text 21"/>
          <p:cNvSpPr/>
          <p:nvPr/>
        </p:nvSpPr>
        <p:spPr>
          <a:xfrm>
            <a:off x="3355848" y="2761488"/>
            <a:ext cx="259689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F0F4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Implemented the Perception-Reasoning-Action (PRA) loop. YOLO detects objects each frame; agent logic triggers configurable responses.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3355848" y="3337560"/>
            <a:ext cx="25968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kern="0" spc="150" dirty="0">
                <a:solidFill>
                  <a:srgbClr val="1AAC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</a:t>
            </a:r>
            <a:endParaRPr lang="en-US" sz="750" dirty="0"/>
          </a:p>
        </p:txBody>
      </p:sp>
      <p:sp>
        <p:nvSpPr>
          <p:cNvPr id="25" name="Text 23"/>
          <p:cNvSpPr/>
          <p:nvPr/>
        </p:nvSpPr>
        <p:spPr>
          <a:xfrm>
            <a:off x="3355848" y="3520440"/>
            <a:ext cx="259689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F0F4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Fully functional real-time monitoring agent that detects and reacts to defined visual events.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3227832" y="4608576"/>
            <a:ext cx="2798064" cy="347472"/>
          </a:xfrm>
          <a:prstGeom prst="rect">
            <a:avLst/>
          </a:prstGeom>
          <a:solidFill>
            <a:srgbClr val="0D7C8F">
              <a:alpha val="75000"/>
            </a:srgbClr>
          </a:solidFill>
          <a:ln w="12700">
            <a:solidFill>
              <a:srgbClr val="0D7C8F">
                <a:alpha val="7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3300984" y="4608576"/>
            <a:ext cx="26883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YOLOv8 · OpenCV · PRA Loop · Python</a:t>
            </a:r>
            <a:endParaRPr lang="en-US" sz="800" dirty="0"/>
          </a:p>
        </p:txBody>
      </p:sp>
      <p:sp>
        <p:nvSpPr>
          <p:cNvPr id="28" name="Shape 26"/>
          <p:cNvSpPr/>
          <p:nvPr/>
        </p:nvSpPr>
        <p:spPr>
          <a:xfrm>
            <a:off x="6181344" y="914400"/>
            <a:ext cx="2798064" cy="4041648"/>
          </a:xfrm>
          <a:prstGeom prst="rect">
            <a:avLst/>
          </a:prstGeom>
          <a:solidFill>
            <a:srgbClr val="0D1E2E"/>
          </a:solidFill>
          <a:ln w="12700">
            <a:solidFill>
              <a:srgbClr val="0D7C8F"/>
            </a:solidFill>
            <a:prstDash val="solid"/>
          </a:ln>
          <a:effectLst>
            <a:outerShdw blurRad="101600" dist="38100" dir="81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9" name="Text 27"/>
          <p:cNvSpPr/>
          <p:nvPr/>
        </p:nvSpPr>
        <p:spPr>
          <a:xfrm>
            <a:off x="6309360" y="987552"/>
            <a:ext cx="777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D7C8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03</a:t>
            </a:r>
            <a:endParaRPr lang="en-US" sz="3000" dirty="0"/>
          </a:p>
        </p:txBody>
      </p:sp>
      <p:sp>
        <p:nvSpPr>
          <p:cNvPr id="30" name="Text 28"/>
          <p:cNvSpPr/>
          <p:nvPr/>
        </p:nvSpPr>
        <p:spPr>
          <a:xfrm>
            <a:off x="6309360" y="1463040"/>
            <a:ext cx="25968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Object Tracking &amp; Zone Analytics</a:t>
            </a:r>
            <a:endParaRPr lang="en-US" sz="1250" dirty="0"/>
          </a:p>
        </p:txBody>
      </p:sp>
      <p:sp>
        <p:nvSpPr>
          <p:cNvPr id="31" name="Shape 29"/>
          <p:cNvSpPr/>
          <p:nvPr/>
        </p:nvSpPr>
        <p:spPr>
          <a:xfrm>
            <a:off x="6309360" y="1938528"/>
            <a:ext cx="2523744" cy="18288"/>
          </a:xfrm>
          <a:prstGeom prst="rect">
            <a:avLst/>
          </a:prstGeom>
          <a:solidFill>
            <a:srgbClr val="0D7C8F"/>
          </a:solidFill>
          <a:ln w="12700">
            <a:solidFill>
              <a:srgbClr val="0D7C8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Text 30"/>
          <p:cNvSpPr/>
          <p:nvPr/>
        </p:nvSpPr>
        <p:spPr>
          <a:xfrm>
            <a:off x="6309360" y="2011680"/>
            <a:ext cx="25968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kern="0" spc="150" dirty="0">
                <a:solidFill>
                  <a:srgbClr val="1AAC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</a:t>
            </a:r>
            <a:endParaRPr lang="en-US" sz="750" dirty="0"/>
          </a:p>
        </p:txBody>
      </p:sp>
      <p:sp>
        <p:nvSpPr>
          <p:cNvPr id="33" name="Text 31"/>
          <p:cNvSpPr/>
          <p:nvPr/>
        </p:nvSpPr>
        <p:spPr>
          <a:xfrm>
            <a:off x="6309360" y="2194560"/>
            <a:ext cx="259689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F0F4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 individual objects across frames and trigger zone-based analytics events.</a:t>
            </a:r>
            <a:endParaRPr lang="en-US" sz="950" dirty="0"/>
          </a:p>
        </p:txBody>
      </p:sp>
      <p:sp>
        <p:nvSpPr>
          <p:cNvPr id="34" name="Text 32"/>
          <p:cNvSpPr/>
          <p:nvPr/>
        </p:nvSpPr>
        <p:spPr>
          <a:xfrm>
            <a:off x="6309360" y="2578608"/>
            <a:ext cx="25968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kern="0" spc="150" dirty="0">
                <a:solidFill>
                  <a:srgbClr val="1AAC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APPROACH</a:t>
            </a:r>
            <a:endParaRPr lang="en-US" sz="750" dirty="0"/>
          </a:p>
        </p:txBody>
      </p:sp>
      <p:sp>
        <p:nvSpPr>
          <p:cNvPr id="35" name="Text 33"/>
          <p:cNvSpPr/>
          <p:nvPr/>
        </p:nvSpPr>
        <p:spPr>
          <a:xfrm>
            <a:off x="6309360" y="2761488"/>
            <a:ext cx="259689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F0F4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YOLOv8 tracker assigns persistent IDs. Spatial zones defined over frame; crossing events logged with counts and timestamps.</a:t>
            </a:r>
            <a:endParaRPr lang="en-US" sz="950" dirty="0"/>
          </a:p>
        </p:txBody>
      </p:sp>
      <p:sp>
        <p:nvSpPr>
          <p:cNvPr id="36" name="Text 34"/>
          <p:cNvSpPr/>
          <p:nvPr/>
        </p:nvSpPr>
        <p:spPr>
          <a:xfrm>
            <a:off x="6309360" y="3337560"/>
            <a:ext cx="25968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kern="0" spc="150" dirty="0">
                <a:solidFill>
                  <a:srgbClr val="1AAC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</a:t>
            </a:r>
            <a:endParaRPr lang="en-US" sz="750" dirty="0"/>
          </a:p>
        </p:txBody>
      </p:sp>
      <p:sp>
        <p:nvSpPr>
          <p:cNvPr id="37" name="Text 35"/>
          <p:cNvSpPr/>
          <p:nvPr/>
        </p:nvSpPr>
        <p:spPr>
          <a:xfrm>
            <a:off x="6309360" y="3520440"/>
            <a:ext cx="259689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F0F4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Working pipeline applicable to retail analytics, security monitoring, and traffic management.</a:t>
            </a:r>
            <a:endParaRPr lang="en-US" sz="950" dirty="0"/>
          </a:p>
        </p:txBody>
      </p:sp>
      <p:sp>
        <p:nvSpPr>
          <p:cNvPr id="38" name="Shape 36"/>
          <p:cNvSpPr/>
          <p:nvPr/>
        </p:nvSpPr>
        <p:spPr>
          <a:xfrm>
            <a:off x="6181344" y="4608576"/>
            <a:ext cx="2798064" cy="347472"/>
          </a:xfrm>
          <a:prstGeom prst="rect">
            <a:avLst/>
          </a:prstGeom>
          <a:solidFill>
            <a:srgbClr val="0D7C8F">
              <a:alpha val="75000"/>
            </a:srgbClr>
          </a:solidFill>
          <a:ln w="12700">
            <a:solidFill>
              <a:srgbClr val="0D7C8F">
                <a:alpha val="7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9" name="Text 37"/>
          <p:cNvSpPr/>
          <p:nvPr/>
        </p:nvSpPr>
        <p:spPr>
          <a:xfrm>
            <a:off x="6254496" y="4608576"/>
            <a:ext cx="26883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YOLOv8 Tracker · Zone Detection · OpenCV</a:t>
            </a:r>
            <a:endParaRPr lang="en-US" sz="800" dirty="0"/>
          </a:p>
        </p:txBody>
      </p:sp>
      <p:sp>
        <p:nvSpPr>
          <p:cNvPr id="40" name="Text 38"/>
          <p:cNvSpPr/>
          <p:nvPr/>
        </p:nvSpPr>
        <p:spPr>
          <a:xfrm>
            <a:off x="0" y="4892040"/>
            <a:ext cx="9144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8DAF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github.com/med27-coder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0F4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A2342"/>
          </a:solidFill>
          <a:ln w="12700">
            <a:solidFill>
              <a:srgbClr val="0A234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8412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Skills &amp; Competencies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320040" y="960120"/>
            <a:ext cx="54864" cy="1143000"/>
          </a:xfrm>
          <a:prstGeom prst="rect">
            <a:avLst/>
          </a:prstGeom>
          <a:solidFill>
            <a:srgbClr val="0D7C8F"/>
          </a:solidFill>
          <a:ln w="12700">
            <a:solidFill>
              <a:srgbClr val="0D7C8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475488" y="960120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150" dirty="0">
                <a:solidFill>
                  <a:srgbClr val="0D7C8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COMPUTER VISION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75488" y="1234440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D7C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 </a:t>
            </a:r>
            <a:r>
              <a:rPr lang="en-US" sz="1100" dirty="0">
                <a:solidFill>
                  <a:srgbClr val="0A23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OpenCV (image processing, filtering, transforms)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75488" y="1508760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D7C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 </a:t>
            </a:r>
            <a:r>
              <a:rPr lang="en-US" sz="1100" dirty="0">
                <a:solidFill>
                  <a:srgbClr val="0A23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YOLOv8 — object detection &amp; real-time tracking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475488" y="1783080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D7C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 </a:t>
            </a:r>
            <a:r>
              <a:rPr lang="en-US" sz="1100" dirty="0">
                <a:solidFill>
                  <a:srgbClr val="0A23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TensorFlow Hub — transfer learning pipelines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75488" y="2057400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D7C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 </a:t>
            </a:r>
            <a:r>
              <a:rPr lang="en-US" sz="1100" dirty="0">
                <a:solidFill>
                  <a:srgbClr val="0A23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Zone-based spatial analytics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320040" y="2286000"/>
            <a:ext cx="54864" cy="1143000"/>
          </a:xfrm>
          <a:prstGeom prst="rect">
            <a:avLst/>
          </a:prstGeom>
          <a:solidFill>
            <a:srgbClr val="0D7C8F"/>
          </a:solidFill>
          <a:ln w="12700">
            <a:solidFill>
              <a:srgbClr val="0D7C8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475488" y="2286000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150" dirty="0">
                <a:solidFill>
                  <a:srgbClr val="0D7C8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DEEP LEARNING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475488" y="2560320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D7C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 </a:t>
            </a:r>
            <a:r>
              <a:rPr lang="en-US" sz="1100" dirty="0">
                <a:solidFill>
                  <a:srgbClr val="0A23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CNNs (Conv2d, MaxPool, BatchNorm)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475488" y="2834640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D7C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 </a:t>
            </a:r>
            <a:r>
              <a:rPr lang="en-US" sz="1100" dirty="0">
                <a:solidFill>
                  <a:srgbClr val="0A23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Feedforward Networks · ReLU · Softmax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75488" y="3108960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D7C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 </a:t>
            </a:r>
            <a:r>
              <a:rPr lang="en-US" sz="1100" dirty="0">
                <a:solidFill>
                  <a:srgbClr val="0A23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PyTorch (nn.Module, DataLoader, SGD, Adam)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475488" y="3383280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D7C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 </a:t>
            </a:r>
            <a:r>
              <a:rPr lang="en-US" sz="1100" dirty="0">
                <a:solidFill>
                  <a:srgbClr val="0A23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Training/validation loss · overfitting detection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320040" y="3566160"/>
            <a:ext cx="54864" cy="868680"/>
          </a:xfrm>
          <a:prstGeom prst="rect">
            <a:avLst/>
          </a:prstGeom>
          <a:solidFill>
            <a:srgbClr val="0D7C8F"/>
          </a:solidFill>
          <a:ln w="12700">
            <a:solidFill>
              <a:srgbClr val="0D7C8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475488" y="3566160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150" dirty="0">
                <a:solidFill>
                  <a:srgbClr val="0D7C8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AI AGENTS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475488" y="3840480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D7C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 </a:t>
            </a:r>
            <a:r>
              <a:rPr lang="en-US" sz="1100" dirty="0">
                <a:solidFill>
                  <a:srgbClr val="0A23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Perception-Reasoning-Action (PRA) loop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475488" y="4114800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D7C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 </a:t>
            </a:r>
            <a:r>
              <a:rPr lang="en-US" sz="1100" dirty="0">
                <a:solidFill>
                  <a:srgbClr val="0A23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frameworks: tools, memory, workflow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75488" y="4389120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D7C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 </a:t>
            </a:r>
            <a:r>
              <a:rPr lang="en-US" sz="1100" dirty="0">
                <a:solidFill>
                  <a:srgbClr val="0A23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Visual monitoring agent design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5760720" y="914400"/>
            <a:ext cx="3063240" cy="3977640"/>
          </a:xfrm>
          <a:prstGeom prst="rect">
            <a:avLst/>
          </a:prstGeom>
          <a:solidFill>
            <a:srgbClr val="0A2342"/>
          </a:solidFill>
          <a:ln w="12700">
            <a:solidFill>
              <a:srgbClr val="0A234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5760720" y="1024128"/>
            <a:ext cx="3063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kern="0" spc="200" dirty="0">
                <a:solidFill>
                  <a:srgbClr val="1AAC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TOOLS &amp; STACK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760720" y="1389888"/>
            <a:ext cx="3063240" cy="347472"/>
          </a:xfrm>
          <a:prstGeom prst="rect">
            <a:avLst/>
          </a:prstGeom>
          <a:solidFill>
            <a:srgbClr val="0D2035"/>
          </a:solidFill>
          <a:ln w="12700">
            <a:solidFill>
              <a:srgbClr val="0D203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5870448" y="1399032"/>
            <a:ext cx="1188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DAF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Language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7086600" y="1399032"/>
            <a:ext cx="1645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5760720" y="1792224"/>
            <a:ext cx="3063240" cy="347472"/>
          </a:xfrm>
          <a:prstGeom prst="rect">
            <a:avLst/>
          </a:prstGeom>
          <a:solidFill>
            <a:srgbClr val="0A1A2C"/>
          </a:solidFill>
          <a:ln w="12700">
            <a:solidFill>
              <a:srgbClr val="0A1A2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5870448" y="1801368"/>
            <a:ext cx="1188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DAF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Frameworks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7086600" y="1801368"/>
            <a:ext cx="1645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PyTorch · TensorFlow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5760720" y="2194560"/>
            <a:ext cx="3063240" cy="347472"/>
          </a:xfrm>
          <a:prstGeom prst="rect">
            <a:avLst/>
          </a:prstGeom>
          <a:solidFill>
            <a:srgbClr val="0D2035"/>
          </a:solidFill>
          <a:ln w="12700">
            <a:solidFill>
              <a:srgbClr val="0D203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Text 28"/>
          <p:cNvSpPr/>
          <p:nvPr/>
        </p:nvSpPr>
        <p:spPr>
          <a:xfrm>
            <a:off x="5870448" y="2203704"/>
            <a:ext cx="1188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DAF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CV Libraries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7086600" y="2203704"/>
            <a:ext cx="1645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OpenCV · YOLOv8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5760720" y="2596896"/>
            <a:ext cx="3063240" cy="347472"/>
          </a:xfrm>
          <a:prstGeom prst="rect">
            <a:avLst/>
          </a:prstGeom>
          <a:solidFill>
            <a:srgbClr val="0A1A2C"/>
          </a:solidFill>
          <a:ln w="12700">
            <a:solidFill>
              <a:srgbClr val="0A1A2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" name="Text 31"/>
          <p:cNvSpPr/>
          <p:nvPr/>
        </p:nvSpPr>
        <p:spPr>
          <a:xfrm>
            <a:off x="5870448" y="2606040"/>
            <a:ext cx="1188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DAF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7086600" y="2606040"/>
            <a:ext cx="1645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Scikit-learn · Scikit-image</a:t>
            </a:r>
            <a:endParaRPr lang="en-US" sz="950" dirty="0"/>
          </a:p>
        </p:txBody>
      </p:sp>
      <p:sp>
        <p:nvSpPr>
          <p:cNvPr id="35" name="Shape 33"/>
          <p:cNvSpPr/>
          <p:nvPr/>
        </p:nvSpPr>
        <p:spPr>
          <a:xfrm>
            <a:off x="5760720" y="2999232"/>
            <a:ext cx="3063240" cy="347472"/>
          </a:xfrm>
          <a:prstGeom prst="rect">
            <a:avLst/>
          </a:prstGeom>
          <a:solidFill>
            <a:srgbClr val="0D2035"/>
          </a:solidFill>
          <a:ln w="12700">
            <a:solidFill>
              <a:srgbClr val="0D203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6" name="Text 34"/>
          <p:cNvSpPr/>
          <p:nvPr/>
        </p:nvSpPr>
        <p:spPr>
          <a:xfrm>
            <a:off x="5870448" y="3008376"/>
            <a:ext cx="1188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DAF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7086600" y="3008376"/>
            <a:ext cx="1645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NumPy · Matplotlib · Pandas</a:t>
            </a:r>
            <a:endParaRPr lang="en-US" sz="950" dirty="0"/>
          </a:p>
        </p:txBody>
      </p:sp>
      <p:sp>
        <p:nvSpPr>
          <p:cNvPr id="38" name="Shape 36"/>
          <p:cNvSpPr/>
          <p:nvPr/>
        </p:nvSpPr>
        <p:spPr>
          <a:xfrm>
            <a:off x="5760720" y="3401568"/>
            <a:ext cx="3063240" cy="347472"/>
          </a:xfrm>
          <a:prstGeom prst="rect">
            <a:avLst/>
          </a:prstGeom>
          <a:solidFill>
            <a:srgbClr val="0A1A2C"/>
          </a:solidFill>
          <a:ln w="12700">
            <a:solidFill>
              <a:srgbClr val="0A1A2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9" name="Text 37"/>
          <p:cNvSpPr/>
          <p:nvPr/>
        </p:nvSpPr>
        <p:spPr>
          <a:xfrm>
            <a:off x="5870448" y="3410712"/>
            <a:ext cx="1188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DAF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Notebooks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7086600" y="3410712"/>
            <a:ext cx="1645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Jupyter · Google Colab</a:t>
            </a:r>
            <a:endParaRPr lang="en-US" sz="950" dirty="0"/>
          </a:p>
        </p:txBody>
      </p:sp>
      <p:sp>
        <p:nvSpPr>
          <p:cNvPr id="41" name="Shape 39"/>
          <p:cNvSpPr/>
          <p:nvPr/>
        </p:nvSpPr>
        <p:spPr>
          <a:xfrm>
            <a:off x="5760720" y="3803904"/>
            <a:ext cx="3063240" cy="347472"/>
          </a:xfrm>
          <a:prstGeom prst="rect">
            <a:avLst/>
          </a:prstGeom>
          <a:solidFill>
            <a:srgbClr val="0D2035"/>
          </a:solidFill>
          <a:ln w="12700">
            <a:solidFill>
              <a:srgbClr val="0D203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2" name="Text 40"/>
          <p:cNvSpPr/>
          <p:nvPr/>
        </p:nvSpPr>
        <p:spPr>
          <a:xfrm>
            <a:off x="5870448" y="3813048"/>
            <a:ext cx="1188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DAF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Version Control</a:t>
            </a:r>
            <a:endParaRPr lang="en-US" sz="900" dirty="0"/>
          </a:p>
        </p:txBody>
      </p:sp>
      <p:sp>
        <p:nvSpPr>
          <p:cNvPr id="43" name="Text 41"/>
          <p:cNvSpPr/>
          <p:nvPr/>
        </p:nvSpPr>
        <p:spPr>
          <a:xfrm>
            <a:off x="7086600" y="3813048"/>
            <a:ext cx="1645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 · GitHub</a:t>
            </a:r>
            <a:endParaRPr lang="en-US" sz="950" dirty="0"/>
          </a:p>
        </p:txBody>
      </p:sp>
      <p:sp>
        <p:nvSpPr>
          <p:cNvPr id="44" name="Shape 42"/>
          <p:cNvSpPr/>
          <p:nvPr/>
        </p:nvSpPr>
        <p:spPr>
          <a:xfrm>
            <a:off x="5760720" y="4206240"/>
            <a:ext cx="3063240" cy="347472"/>
          </a:xfrm>
          <a:prstGeom prst="rect">
            <a:avLst/>
          </a:prstGeom>
          <a:solidFill>
            <a:srgbClr val="0A1A2C"/>
          </a:solidFill>
          <a:ln w="12700">
            <a:solidFill>
              <a:srgbClr val="0A1A2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5" name="Text 43"/>
          <p:cNvSpPr/>
          <p:nvPr/>
        </p:nvSpPr>
        <p:spPr>
          <a:xfrm>
            <a:off x="5870448" y="4215384"/>
            <a:ext cx="1188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DAF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Agents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7086600" y="4215384"/>
            <a:ext cx="1645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LangChain · PRA Framework</a:t>
            </a:r>
            <a:endParaRPr lang="en-US" sz="950" dirty="0"/>
          </a:p>
        </p:txBody>
      </p:sp>
      <p:sp>
        <p:nvSpPr>
          <p:cNvPr id="47" name="Text 45"/>
          <p:cNvSpPr/>
          <p:nvPr/>
        </p:nvSpPr>
        <p:spPr>
          <a:xfrm>
            <a:off x="0" y="4873752"/>
            <a:ext cx="9144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8DAF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github.com/med27-coder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234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7C8F"/>
          </a:solidFill>
          <a:ln w="12700">
            <a:solidFill>
              <a:srgbClr val="0D7C8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7315200" y="3474720"/>
            <a:ext cx="2743200" cy="2743200"/>
          </a:xfrm>
          <a:prstGeom prst="ellipse">
            <a:avLst/>
          </a:prstGeom>
          <a:solidFill>
            <a:srgbClr val="0D7C8F">
              <a:alpha val="15000"/>
            </a:srgbClr>
          </a:solidFill>
          <a:ln w="12700">
            <a:solidFill>
              <a:srgbClr val="0D7C8F">
                <a:alpha val="1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7955280" y="3931920"/>
            <a:ext cx="1645920" cy="1645920"/>
          </a:xfrm>
          <a:prstGeom prst="ellipse">
            <a:avLst/>
          </a:prstGeom>
          <a:solidFill>
            <a:srgbClr val="1AACBF">
              <a:alpha val="22000"/>
            </a:srgbClr>
          </a:solidFill>
          <a:ln w="12700">
            <a:solidFill>
              <a:srgbClr val="1AACBF">
                <a:alpha val="22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384048" y="292608"/>
            <a:ext cx="8321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Reflection &amp; Next Steps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384048" y="914400"/>
            <a:ext cx="3657600" cy="27432"/>
          </a:xfrm>
          <a:prstGeom prst="rect">
            <a:avLst/>
          </a:prstGeom>
          <a:solidFill>
            <a:srgbClr val="0D7C8F"/>
          </a:solidFill>
          <a:ln w="12700">
            <a:solidFill>
              <a:srgbClr val="0D7C8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384048" y="105156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200" dirty="0">
                <a:solidFill>
                  <a:srgbClr val="1AAC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REFLECTION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384048" y="1389888"/>
            <a:ext cx="182880" cy="182880"/>
          </a:xfrm>
          <a:prstGeom prst="ellipse">
            <a:avLst/>
          </a:prstGeom>
          <a:solidFill>
            <a:srgbClr val="0D7C8F"/>
          </a:solidFill>
          <a:ln w="12700">
            <a:solidFill>
              <a:srgbClr val="0D7C8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658368" y="1353312"/>
            <a:ext cx="52120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0F4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ITAI 1378 built my understanding from raw pixels to production AI systems — classical ML, deep CNNs, transfer learning, and autonomous agents.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384048" y="1865376"/>
            <a:ext cx="182880" cy="182880"/>
          </a:xfrm>
          <a:prstGeom prst="ellipse">
            <a:avLst/>
          </a:prstGeom>
          <a:solidFill>
            <a:srgbClr val="0D7C8F"/>
          </a:solidFill>
          <a:ln w="12700">
            <a:solidFill>
              <a:srgbClr val="0D7C8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658368" y="1828800"/>
            <a:ext cx="52120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0F4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most valuable lesson: debugging is not failure — every error is a window into how the system actually works.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384048" y="2340864"/>
            <a:ext cx="182880" cy="182880"/>
          </a:xfrm>
          <a:prstGeom prst="ellipse">
            <a:avLst/>
          </a:prstGeom>
          <a:solidFill>
            <a:srgbClr val="0D7C8F"/>
          </a:solidFill>
          <a:ln w="12700">
            <a:solidFill>
              <a:srgbClr val="0D7C8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658368" y="2304288"/>
            <a:ext cx="52120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0F4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Computer vision gave me a new lens for thinking about AI: perception is the first step in any intelligent system, and getting it right is everything.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384048" y="2926080"/>
            <a:ext cx="3657600" cy="27432"/>
          </a:xfrm>
          <a:prstGeom prst="rect">
            <a:avLst/>
          </a:prstGeom>
          <a:solidFill>
            <a:srgbClr val="0D7C8F"/>
          </a:solidFill>
          <a:ln w="12700">
            <a:solidFill>
              <a:srgbClr val="0D7C8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384048" y="301752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200" dirty="0">
                <a:solidFill>
                  <a:srgbClr val="1AAC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STEPS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658368" y="3337560"/>
            <a:ext cx="5212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Deep Learning — ITAI 2376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58368" y="3538728"/>
            <a:ext cx="5212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DAF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RNNs, Q-learning, advanced architectures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658368" y="3758184"/>
            <a:ext cx="5212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AI &amp; ML — ITAI 2377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658368" y="3959352"/>
            <a:ext cx="5212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DAF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Agentic systems, responsible AI, facial recognition ethics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58368" y="4178808"/>
            <a:ext cx="5212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Personal Projects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658368" y="4379976"/>
            <a:ext cx="5212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DAF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Expand GitHub portfolio: exoplanet CV, StudyBot NLP agent, Raspberry Pi robotics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5943600" y="1051560"/>
            <a:ext cx="2880360" cy="2560320"/>
          </a:xfrm>
          <a:prstGeom prst="rect">
            <a:avLst/>
          </a:prstGeom>
          <a:solidFill>
            <a:srgbClr val="071829"/>
          </a:solidFill>
          <a:ln w="12700">
            <a:solidFill>
              <a:srgbClr val="0D7C8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5943600" y="1170432"/>
            <a:ext cx="2880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kern="0" spc="250" dirty="0">
                <a:solidFill>
                  <a:srgbClr val="1AAC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CONTACT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6080760" y="1536192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DAF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6080760" y="173736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github.com/med27-coder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6080760" y="2084832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DAF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Email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6080760" y="228600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(franciscomed927@gmail.com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6080760" y="2633472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DAF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LinkedIn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6080760" y="283464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050">
                <a:hlinkClick r:id="rId3"/>
              </a:rPr>
              <a:t>Francisco </a:t>
            </a:r>
            <a:r>
              <a:rPr lang="en-US" sz="1050" dirty="0">
                <a:hlinkClick r:id="rId3"/>
              </a:rPr>
              <a:t>Medina | LinkedIn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0" y="4773168"/>
            <a:ext cx="9144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8DAF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Francisco Medina  ·  ITAI 1378  ·  Spring 2026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645</Words>
  <Application>Microsoft Office PowerPoint</Application>
  <PresentationFormat>On-screen Show (16:9)</PresentationFormat>
  <Paragraphs>131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9" baseType="lpstr">
      <vt:lpstr>Arial</vt:lpstr>
      <vt:lpstr>Calibri</vt:lpstr>
      <vt:lpstr>Trebuchet MS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Computer Vision Portfolio – ITAI 1378</dc:title>
  <dc:subject>PptxGenJS Presentation</dc:subject>
  <dc:creator>Francisco Medina</dc:creator>
  <cp:lastModifiedBy>francisco.medinadiaz-W211144006</cp:lastModifiedBy>
  <cp:revision>2</cp:revision>
  <dcterms:created xsi:type="dcterms:W3CDTF">2026-05-11T20:34:19Z</dcterms:created>
  <dcterms:modified xsi:type="dcterms:W3CDTF">2026-05-11T21:12:45Z</dcterms:modified>
</cp:coreProperties>
</file>