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822960"/>
            <a:ext cx="2560320" cy="2560320"/>
          </a:xfrm>
          <a:prstGeom prst="ellipse">
            <a:avLst/>
          </a:prstGeom>
          <a:solidFill>
            <a:srgbClr val="0F7A4A">
              <a:alpha val="18000"/>
            </a:srgbClr>
          </a:solidFill>
          <a:ln w="12700">
            <a:solidFill>
              <a:srgbClr val="0F7A4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28600"/>
            <a:ext cx="1371600" cy="1371600"/>
          </a:xfrm>
          <a:prstGeom prst="ellipse">
            <a:avLst/>
          </a:prstGeom>
          <a:solidFill>
            <a:srgbClr val="1AAF6C">
              <a:alpha val="25000"/>
            </a:srgbClr>
          </a:solidFill>
          <a:ln w="12700">
            <a:solidFill>
              <a:srgbClr val="1AAF6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Francisco Medina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Student  ·  Data Science  ·  Machine Learning  ·  Preprocessing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231136"/>
            <a:ext cx="5303520" cy="27432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5915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Artificial Intel – ITAI 2377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Sitaram Ayyagari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15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github.com/med27-coder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Portfolio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5720" cy="3611880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97864"/>
            <a:ext cx="548640" cy="246888"/>
          </a:xfrm>
          <a:prstGeom prst="roundRect">
            <a:avLst>
              <a:gd name="adj" fmla="val 14815"/>
            </a:avLst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9786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42416" y="11887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141732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GitHub datasets · EDA · Summary statistics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020824"/>
            <a:ext cx="548640" cy="246888"/>
          </a:xfrm>
          <a:prstGeom prst="roundRect">
            <a:avLst>
              <a:gd name="adj" fmla="val 14815"/>
            </a:avLst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2082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42416" y="20116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 Data Preprocessing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224028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Text · Time Series · Video · Audio · DistilBERT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843784"/>
            <a:ext cx="548640" cy="246888"/>
          </a:xfrm>
          <a:prstGeom prst="roundRect">
            <a:avLst>
              <a:gd name="adj" fmla="val 14815"/>
            </a:avLst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4378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2416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for GenAI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306324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GloVe · DistilBERT embeddings · BBC corpus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666744"/>
            <a:ext cx="548640" cy="246888"/>
          </a:xfrm>
          <a:prstGeom prst="roundRect">
            <a:avLst>
              <a:gd name="adj" fmla="val 14815"/>
            </a:avLst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66674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42416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Game Sales Prediction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388620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· Data leakage fix · Class imbalance · 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960120"/>
            <a:ext cx="2926080" cy="3749040"/>
          </a:xfrm>
          <a:prstGeom prst="rect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3898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943600" y="193852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Game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· Data Leakage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· F1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3364992"/>
            <a:ext cx="2523744" cy="27432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perfect metrics = warning sign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 Projects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98064" cy="4078224"/>
          </a:xfrm>
          <a:prstGeom prst="rect">
            <a:avLst/>
          </a:prstGeom>
          <a:solidFill>
            <a:srgbClr val="081510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0058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664208" y="9692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2336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Game Sales Prediction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" y="1709928"/>
            <a:ext cx="2523744" cy="18288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196596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video game will be a commercial hit using historical sales — and discover a data leakage bug that made results look perfect.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257860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 on 12.37% hit class. Identified Total_Regional_Sales = Global_Sales leakage. Fixed by engineering derived features, dropping leaking columns.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2336" y="33284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Flawed model: 99.94% accuracy (meaningless). Corrected model: 91.14% accuracy, 62.97% F1, 78.85% ROC AUC — honest metrics from real pattern learning.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636008"/>
            <a:ext cx="2798064" cy="347472"/>
          </a:xfrm>
          <a:prstGeom prst="rect">
            <a:avLst/>
          </a:prstGeom>
          <a:solidFill>
            <a:srgbClr val="0F7A4A">
              <a:alpha val="75000"/>
            </a:srgbClr>
          </a:solidFill>
          <a:ln w="12700">
            <a:solidFill>
              <a:srgbClr val="0F7A4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Pandas · Seaborn · Decision Tree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27832" y="914400"/>
            <a:ext cx="2798064" cy="4078224"/>
          </a:xfrm>
          <a:prstGeom prst="rect">
            <a:avLst/>
          </a:prstGeom>
          <a:solidFill>
            <a:srgbClr val="081510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10058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L05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17720" y="9692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55848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for GenAI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55848" y="1709928"/>
            <a:ext cx="2523744" cy="18288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55848" y="196596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text preprocessing pipeline for generative AI, comparing static (GloVe) vs contextual (DistilBERT) embeddings on a real corpus.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55848" y="257860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news corpus: custom label extraction → NLTK cleaning → GloVe vectors → DistilBERT embeddings → cosine similarity matrices per category.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55848" y="33284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grouped same-category articles more tightly than GloVe in similarity matrices — demonstrating contextual understanding over static lookup.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27832" y="4636008"/>
            <a:ext cx="2798064" cy="347472"/>
          </a:xfrm>
          <a:prstGeom prst="rect">
            <a:avLst/>
          </a:prstGeom>
          <a:solidFill>
            <a:srgbClr val="0F7A4A">
              <a:alpha val="75000"/>
            </a:srgbClr>
          </a:solidFill>
          <a:ln w="12700">
            <a:solidFill>
              <a:srgbClr val="0F7A4A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Gensim · HuggingFace DistilBERT · NumPy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81344" y="914400"/>
            <a:ext cx="2798064" cy="4078224"/>
          </a:xfrm>
          <a:prstGeom prst="rect">
            <a:avLst/>
          </a:prstGeom>
          <a:solidFill>
            <a:srgbClr val="081510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0058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F7A4A">
              <a:alpha val="80000"/>
            </a:srgbClr>
          </a:solidFill>
          <a:ln w="12700">
            <a:solidFill>
              <a:srgbClr val="1AAF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005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L04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571232" y="9692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309360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 Data Preprocessing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1709928"/>
            <a:ext cx="2523744" cy="18288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09360" y="196596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four different data modalities — images, text, time series, and video/audio — for use in deep learning models.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09360" y="257860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resize + normalize + channel handling. Text: tokenize + lemmatize + embed. Time series: scale + window. Video: frame extraction. Audio: spectrogram conversion.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9360" y="33284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all modalities reduce to arrays of numbers with the right preprocessing — deep learning's flexibility comes from this universal representation.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4636008"/>
            <a:ext cx="2798064" cy="347472"/>
          </a:xfrm>
          <a:prstGeom prst="rect">
            <a:avLst/>
          </a:prstGeom>
          <a:solidFill>
            <a:srgbClr val="0F7A4A">
              <a:alpha val="75000"/>
            </a:srgbClr>
          </a:solidFill>
          <a:ln w="12700">
            <a:solidFill>
              <a:srgbClr val="0F7A4A">
                <a:alpha val="7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NLTK · NumPy · Matplotlib · Colab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Competencies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923544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0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234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Tabular: Pandas EDA, missing values, feature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27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tokenization, stopwords, lemmatization, normalization (NLTK)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19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Multi-modal: images, time series, video frames, audio spectrograms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54864" cy="923544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762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Decision Trees, binary 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detection and elimination — feature integrity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0358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datasets: F1, precision, recall, ROC AUC over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54864" cy="923544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83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 &amp; GENERATIVE AI PIPELINES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657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embeddings: GloVe (50-dim, Wikipedia-trained via Gensim)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950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embeddings: DistilBERT (768-dim, HuggingFace Transformers)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2428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matrices, cosine similarity, RAG pipeline foundations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63240" cy="3977640"/>
          </a:xfrm>
          <a:prstGeom prst="rect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024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1389888"/>
            <a:ext cx="3063240" cy="347472"/>
          </a:xfrm>
          <a:prstGeom prst="rect">
            <a:avLst/>
          </a:prstGeom>
          <a:solidFill>
            <a:srgbClr val="0A2018"/>
          </a:solidFill>
          <a:ln w="12700">
            <a:solidFill>
              <a:srgbClr val="0A20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3990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1792224"/>
            <a:ext cx="3063240" cy="347472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801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1801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2194560"/>
            <a:ext cx="3063240" cy="347472"/>
          </a:xfrm>
          <a:prstGeom prst="rect">
            <a:avLst/>
          </a:prstGeom>
          <a:solidFill>
            <a:srgbClr val="0A2018"/>
          </a:solidFill>
          <a:ln w="12700">
            <a:solidFill>
              <a:srgbClr val="0A20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22037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86600" y="2203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596896"/>
            <a:ext cx="3063240" cy="347472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2606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999232"/>
            <a:ext cx="3063240" cy="347472"/>
          </a:xfrm>
          <a:prstGeom prst="rect">
            <a:avLst/>
          </a:prstGeom>
          <a:solidFill>
            <a:srgbClr val="0A2018"/>
          </a:solidFill>
          <a:ln w="12700">
            <a:solidFill>
              <a:srgbClr val="0A20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3008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Gensim · GloVe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3401568"/>
            <a:ext cx="3063240" cy="347472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410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· HuggingFace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803904"/>
            <a:ext cx="3063240" cy="347472"/>
          </a:xfrm>
          <a:prstGeom prst="rect">
            <a:avLst/>
          </a:prstGeom>
          <a:solidFill>
            <a:srgbClr val="0A2018"/>
          </a:solidFill>
          <a:ln w="12700">
            <a:solidFill>
              <a:srgbClr val="0A20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3813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/ Media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6600" y="3813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4206240"/>
            <a:ext cx="3063240" cy="347472"/>
          </a:xfrm>
          <a:prstGeom prst="rect">
            <a:avLst/>
          </a:prstGeom>
          <a:solidFill>
            <a:srgbClr val="071510"/>
          </a:solidFill>
          <a:ln w="12700">
            <a:solidFill>
              <a:srgbClr val="0715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42153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4215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873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383280"/>
            <a:ext cx="2743200" cy="2743200"/>
          </a:xfrm>
          <a:prstGeom prst="ellipse">
            <a:avLst/>
          </a:prstGeom>
          <a:solidFill>
            <a:srgbClr val="0F7A4A">
              <a:alpha val="15000"/>
            </a:srgbClr>
          </a:solidFill>
          <a:ln w="12700">
            <a:solidFill>
              <a:srgbClr val="0F7A4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840480"/>
            <a:ext cx="1645920" cy="1645920"/>
          </a:xfrm>
          <a:prstGeom prst="ellipse">
            <a:avLst/>
          </a:prstGeom>
          <a:solidFill>
            <a:srgbClr val="1AAF6C">
              <a:alpha val="22000"/>
            </a:srgbClr>
          </a:solidFill>
          <a:ln w="12700">
            <a:solidFill>
              <a:srgbClr val="1AAF6C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926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3657600" cy="27432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182880" cy="182880"/>
          </a:xfrm>
          <a:prstGeom prst="ellipse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2377 changed how I approach every model — the most important work is before training, not during. Feature integrity, preprocessing choices, and validation design determine whether results mean anything.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182880" cy="182880"/>
          </a:xfrm>
          <a:prstGeom prst="ellipse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leakage discovery in L08 was the most valuable mistake I've made: 99.94% accuracy that was completely meaningless. Now I treat suspiciously perfect results as a bug report, not a success.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40864"/>
            <a:ext cx="182880" cy="182880"/>
          </a:xfrm>
          <a:prstGeom prst="ellipse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0428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GloVe vs DistilBERT side-by-side in L05 made contextual embeddings concrete — the same word positioned differently in vector space depending on its sentence context showed why modern LLMs 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926080"/>
            <a:ext cx="3657600" cy="27432"/>
          </a:xfrm>
          <a:prstGeom prst="rect">
            <a:avLst/>
          </a:prstGeom>
          <a:solidFill>
            <a:srgbClr val="0F7A4A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3375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— ITAI 1378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5387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YOLOv8, transfer learning, real-time CV 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— ITAI 2376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9593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models, RL agents, GANs, Transformers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1788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— ITAI 2373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3799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agents, prompt engineering, GloVe &amp; BERT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2880360" cy="2697480"/>
          </a:xfrm>
          <a:prstGeom prst="rect">
            <a:avLst/>
          </a:prstGeom>
          <a:solidFill>
            <a:srgbClr val="040C08"/>
          </a:solidFill>
          <a:ln w="12700">
            <a:solidFill>
              <a:srgbClr val="0F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1704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1AA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130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331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franciscomed927@gmail.com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francisco-medina-9b015b380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7731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ITAI 2377  ·  Spring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Portfolio – ITAI 2377</dc:title>
  <dc:subject>PptxGenJS Presentation</dc:subject>
  <dc:creator>PptxGenJS</dc:creator>
  <cp:lastModifiedBy>PptxGenJS</cp:lastModifiedBy>
  <cp:revision>1</cp:revision>
  <dcterms:created xsi:type="dcterms:W3CDTF">2026-05-12T01:08:17Z</dcterms:created>
  <dcterms:modified xsi:type="dcterms:W3CDTF">2026-05-12T01:08:17Z</dcterms:modified>
</cp:coreProperties>
</file>