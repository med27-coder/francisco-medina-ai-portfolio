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720A"/>
          </a:solidFill>
          <a:ln w="12700">
            <a:solidFill>
              <a:srgbClr val="C872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06640" y="-822960"/>
            <a:ext cx="2560320" cy="2560320"/>
          </a:xfrm>
          <a:prstGeom prst="ellipse">
            <a:avLst/>
          </a:prstGeom>
          <a:solidFill>
            <a:srgbClr val="C8720A">
              <a:alpha val="18000"/>
            </a:srgbClr>
          </a:solidFill>
          <a:ln w="12700">
            <a:solidFill>
              <a:srgbClr val="C8720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-228600"/>
            <a:ext cx="1371600" cy="1371600"/>
          </a:xfrm>
          <a:prstGeom prst="ellipse">
            <a:avLst/>
          </a:prstGeom>
          <a:solidFill>
            <a:srgbClr val="E8A020">
              <a:alpha val="25000"/>
            </a:srgbClr>
          </a:solidFill>
          <a:ln w="12700">
            <a:solidFill>
              <a:srgbClr val="E8A020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1440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Francisco Medina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11480" y="1719072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AI Student  ·  NLP  ·  Prompt Engineering  ·  AI Agents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1480" y="2231136"/>
            <a:ext cx="5303520" cy="27432"/>
          </a:xfrm>
          <a:prstGeom prst="rect">
            <a:avLst/>
          </a:prstGeom>
          <a:solidFill>
            <a:srgbClr val="C8720A"/>
          </a:solidFill>
          <a:ln w="12700">
            <a:solidFill>
              <a:srgbClr val="C872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359152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Program: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 – ITAI 2373</a:t>
            </a:r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AA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Institution: 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Houston Community College</a:t>
            </a:r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AA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Srikanth Bhakthan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11480" y="3493008"/>
            <a:ext cx="1463040" cy="658368"/>
          </a:xfrm>
          <a:prstGeom prst="roundRect">
            <a:avLst>
              <a:gd name="adj" fmla="val 9722"/>
            </a:avLst>
          </a:prstGeom>
          <a:solidFill>
            <a:srgbClr val="C8720A">
              <a:alpha val="80000"/>
            </a:srgbClr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5204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11480" y="38587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03120" y="3493008"/>
            <a:ext cx="1463040" cy="658368"/>
          </a:xfrm>
          <a:prstGeom prst="roundRect">
            <a:avLst>
              <a:gd name="adj" fmla="val 9722"/>
            </a:avLst>
          </a:prstGeom>
          <a:solidFill>
            <a:srgbClr val="C8720A">
              <a:alpha val="80000"/>
            </a:srgbClr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35204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103120" y="38587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794760" y="3493008"/>
            <a:ext cx="1463040" cy="658368"/>
          </a:xfrm>
          <a:prstGeom prst="roundRect">
            <a:avLst>
              <a:gd name="adj" fmla="val 9722"/>
            </a:avLst>
          </a:prstGeom>
          <a:solidFill>
            <a:srgbClr val="C8720A">
              <a:alpha val="80000"/>
            </a:srgbClr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94760" y="35204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794760" y="38587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4315968"/>
            <a:ext cx="2743200" cy="475488"/>
          </a:xfrm>
          <a:prstGeom prst="roundRect">
            <a:avLst>
              <a:gd name="adj" fmla="val 15385"/>
            </a:avLst>
          </a:prstGeom>
          <a:solidFill>
            <a:srgbClr val="C8720A">
              <a:alpha val="80000"/>
            </a:srgbClr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43159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github.com/med27-coder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" y="477316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 Portfolio  |  Spring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Journey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70432"/>
            <a:ext cx="45720" cy="3291840"/>
          </a:xfrm>
          <a:prstGeom prst="rect">
            <a:avLst/>
          </a:prstGeom>
          <a:solidFill>
            <a:srgbClr val="C8720A"/>
          </a:solidFill>
          <a:ln w="12700">
            <a:solidFill>
              <a:srgbClr val="C8720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197864"/>
            <a:ext cx="594360" cy="246888"/>
          </a:xfrm>
          <a:prstGeom prst="roundRect">
            <a:avLst>
              <a:gd name="adj" fmla="val 14815"/>
            </a:avLst>
          </a:prstGeom>
          <a:solidFill>
            <a:srgbClr val="C8720A"/>
          </a:solidFill>
          <a:ln w="12700">
            <a:solidFill>
              <a:srgbClr val="C872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19786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Mod02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78992" y="118872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Text Preprocessing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0" y="1197864"/>
            <a:ext cx="1188720" cy="219456"/>
          </a:xfrm>
          <a:prstGeom prst="roundRect">
            <a:avLst>
              <a:gd name="adj" fmla="val 16667"/>
            </a:avLst>
          </a:prstGeom>
          <a:solidFill>
            <a:srgbClr val="C8720A">
              <a:alpha val="85000"/>
            </a:srgbClr>
          </a:solidFill>
          <a:ln w="12700">
            <a:solidFill>
              <a:srgbClr val="C8720A">
                <a:alpha val="8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19786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078992" y="1417320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3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· TF-IDF · Word Embeddings (GloVe)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4048" y="2020824"/>
            <a:ext cx="594360" cy="246888"/>
          </a:xfrm>
          <a:prstGeom prst="roundRect">
            <a:avLst>
              <a:gd name="adj" fmla="val 14815"/>
            </a:avLst>
          </a:prstGeom>
          <a:solidFill>
            <a:srgbClr val="C8720A"/>
          </a:solidFill>
          <a:ln w="12700">
            <a:solidFill>
              <a:srgbClr val="C872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0208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Mod04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78992" y="20116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Engineering → PRD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0" y="2020824"/>
            <a:ext cx="1188720" cy="219456"/>
          </a:xfrm>
          <a:prstGeom prst="roundRect">
            <a:avLst>
              <a:gd name="adj" fmla="val 16667"/>
            </a:avLst>
          </a:prstGeom>
          <a:solidFill>
            <a:srgbClr val="C8720A">
              <a:alpha val="85000"/>
            </a:srgbClr>
          </a:solidFill>
          <a:ln w="12700">
            <a:solidFill>
              <a:srgbClr val="C8720A">
                <a:alpha val="8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202082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078992" y="2240280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3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→ Few-shot → CoT → Persona + Constraints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" y="2843784"/>
            <a:ext cx="594360" cy="246888"/>
          </a:xfrm>
          <a:prstGeom prst="roundRect">
            <a:avLst>
              <a:gd name="adj" fmla="val 14815"/>
            </a:avLst>
          </a:prstGeom>
          <a:solidFill>
            <a:srgbClr val="3ABFCF"/>
          </a:solidFill>
          <a:ln w="12700">
            <a:solidFill>
              <a:srgbClr val="3ABF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84378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Mod08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" y="28346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StudyBot Agent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0" y="2843784"/>
            <a:ext cx="1188720" cy="219456"/>
          </a:xfrm>
          <a:prstGeom prst="roundRect">
            <a:avLst>
              <a:gd name="adj" fmla="val 16667"/>
            </a:avLst>
          </a:prstGeom>
          <a:solidFill>
            <a:srgbClr val="3ABFCF">
              <a:alpha val="85000"/>
            </a:srgbClr>
          </a:solidFill>
          <a:ln w="12700">
            <a:solidFill>
              <a:srgbClr val="3ABFCF">
                <a:alpha val="8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284378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078992" y="3063240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3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· LangGraph · Tools · Memory · Ollama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84048" y="3666744"/>
            <a:ext cx="594360" cy="246888"/>
          </a:xfrm>
          <a:prstGeom prst="roundRect">
            <a:avLst>
              <a:gd name="adj" fmla="val 14815"/>
            </a:avLst>
          </a:prstGeom>
          <a:solidFill>
            <a:srgbClr val="C8720A"/>
          </a:solidFill>
          <a:ln w="12700">
            <a:solidFill>
              <a:srgbClr val="C8720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366674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MD13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78992" y="365760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Privacy &amp; AI Surveillance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29200" y="3666744"/>
            <a:ext cx="1188720" cy="219456"/>
          </a:xfrm>
          <a:prstGeom prst="roundRect">
            <a:avLst>
              <a:gd name="adj" fmla="val 16667"/>
            </a:avLst>
          </a:prstGeom>
          <a:solidFill>
            <a:srgbClr val="C8720A">
              <a:alpha val="85000"/>
            </a:srgbClr>
          </a:solidFill>
          <a:ln w="12700">
            <a:solidFill>
              <a:srgbClr val="C8720A">
                <a:alpha val="8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366674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078992" y="3886200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3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Argumentative essay · PEEL · MLA 9 · Reid &amp; Lipps cases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92240" y="960120"/>
            <a:ext cx="2377440" cy="3749040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10789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92240" y="1417320"/>
            <a:ext cx="2377440" cy="438912"/>
          </a:xfrm>
          <a:prstGeom prst="rect">
            <a:avLst/>
          </a:prstGeom>
          <a:solidFill>
            <a:srgbClr val="112030"/>
          </a:solidFill>
          <a:ln w="12700">
            <a:solidFill>
              <a:srgbClr val="11203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0" y="143560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16368" y="1435608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1920240"/>
            <a:ext cx="2377440" cy="438912"/>
          </a:xfrm>
          <a:prstGeom prst="rect">
            <a:avLst/>
          </a:prstGeom>
          <a:solidFill>
            <a:srgbClr val="0D1828"/>
          </a:solidFill>
          <a:ln w="12700">
            <a:solidFill>
              <a:srgbClr val="0D182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0" y="193852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516368" y="1938528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· Gensim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492240" y="2423160"/>
            <a:ext cx="2377440" cy="438912"/>
          </a:xfrm>
          <a:prstGeom prst="rect">
            <a:avLst/>
          </a:prstGeom>
          <a:solidFill>
            <a:srgbClr val="112030"/>
          </a:solidFill>
          <a:ln w="12700">
            <a:solidFill>
              <a:srgbClr val="11203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0" y="244144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516368" y="2441448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492240" y="2926080"/>
            <a:ext cx="2377440" cy="438912"/>
          </a:xfrm>
          <a:prstGeom prst="rect">
            <a:avLst/>
          </a:prstGeom>
          <a:solidFill>
            <a:srgbClr val="0D1828"/>
          </a:solidFill>
          <a:ln w="12700">
            <a:solidFill>
              <a:srgbClr val="0D182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0" y="294436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516368" y="2944368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· LangGraph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492240" y="3429000"/>
            <a:ext cx="2377440" cy="438912"/>
          </a:xfrm>
          <a:prstGeom prst="rect">
            <a:avLst/>
          </a:prstGeom>
          <a:solidFill>
            <a:srgbClr val="112030"/>
          </a:solidFill>
          <a:ln w="12700">
            <a:solidFill>
              <a:srgbClr val="11203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83680" y="344728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516368" y="3447288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· Llama 3.2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492240" y="3931920"/>
            <a:ext cx="2377440" cy="438912"/>
          </a:xfrm>
          <a:prstGeom prst="rect">
            <a:avLst/>
          </a:prstGeom>
          <a:solidFill>
            <a:srgbClr val="0D1828"/>
          </a:solidFill>
          <a:ln w="12700">
            <a:solidFill>
              <a:srgbClr val="0D182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83680" y="395020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7516368" y="3950208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 (50-dim)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0" y="486460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github.com/med27-coder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8720A"/>
          </a:solidFill>
          <a:ln w="12700">
            <a:solidFill>
              <a:srgbClr val="C872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Featured Projects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98064" cy="4078224"/>
          </a:xfrm>
          <a:prstGeom prst="rect">
            <a:avLst/>
          </a:prstGeom>
          <a:solidFill>
            <a:srgbClr val="151005"/>
          </a:solidFill>
          <a:ln w="12700">
            <a:solidFill>
              <a:srgbClr val="C8720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2336" y="1005840"/>
            <a:ext cx="1417320" cy="219456"/>
          </a:xfrm>
          <a:prstGeom prst="roundRect">
            <a:avLst>
              <a:gd name="adj" fmla="val 16667"/>
            </a:avLst>
          </a:prstGeom>
          <a:solidFill>
            <a:srgbClr val="C8720A">
              <a:alpha val="80000"/>
            </a:srgbClr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" y="100584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· MOD08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901952" y="96926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72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02336" y="1280160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StudyBot AI Agent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02336" y="1709928"/>
            <a:ext cx="2523744" cy="18288"/>
          </a:xfrm>
          <a:prstGeom prst="rect">
            <a:avLst/>
          </a:prstGeom>
          <a:solidFill>
            <a:srgbClr val="C8720A"/>
          </a:solidFill>
          <a:ln w="12700">
            <a:solidFill>
              <a:srgbClr val="C872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1783080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02336" y="1965960"/>
            <a:ext cx="2596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chatbot that can actually reason — deciding when to use a tool, calling it, reading the result, and responding with context memory.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02336" y="2395728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02336" y="2578608"/>
            <a:ext cx="2596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StateGraph with two nodes: LLM reasoning node and ToolNode. Tools: calculator (precise math) and Wikipedia search (live facts). Ollama runs Llama 3.2 locally.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02336" y="3145536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02336" y="3328416"/>
            <a:ext cx="2596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functional agent that uses tools only when needed, maintains conversation history, and produces grounded answers — no API key, runs fully offline.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4636008"/>
            <a:ext cx="2798064" cy="347472"/>
          </a:xfrm>
          <a:prstGeom prst="rect">
            <a:avLst/>
          </a:prstGeom>
          <a:solidFill>
            <a:srgbClr val="C8720A">
              <a:alpha val="75000"/>
            </a:srgbClr>
          </a:solidFill>
          <a:ln w="12700">
            <a:solidFill>
              <a:srgbClr val="C8720A">
                <a:alpha val="7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4636008"/>
            <a:ext cx="2688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· LangGraph · Ollama · Llama 3.2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27832" y="914400"/>
            <a:ext cx="2798064" cy="4078224"/>
          </a:xfrm>
          <a:prstGeom prst="rect">
            <a:avLst/>
          </a:prstGeom>
          <a:solidFill>
            <a:srgbClr val="151005"/>
          </a:solidFill>
          <a:ln w="12700">
            <a:solidFill>
              <a:srgbClr val="C8720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55848" y="1005840"/>
            <a:ext cx="1417320" cy="219456"/>
          </a:xfrm>
          <a:prstGeom prst="roundRect">
            <a:avLst>
              <a:gd name="adj" fmla="val 16667"/>
            </a:avLst>
          </a:prstGeom>
          <a:solidFill>
            <a:srgbClr val="C8720A">
              <a:alpha val="80000"/>
            </a:srgbClr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55848" y="100584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· MOD04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855464" y="96926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72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355848" y="1280160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Engineering → PRD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355848" y="1709928"/>
            <a:ext cx="2523744" cy="18288"/>
          </a:xfrm>
          <a:prstGeom prst="rect">
            <a:avLst/>
          </a:prstGeom>
          <a:solidFill>
            <a:srgbClr val="C8720A"/>
          </a:solidFill>
          <a:ln w="12700">
            <a:solidFill>
              <a:srgbClr val="C8720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55848" y="1783080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355848" y="1965960"/>
            <a:ext cx="2596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how prompt design alone transforms a vague app idea into a deployable, professional Product Requirement Document.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355848" y="2395728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355848" y="2578608"/>
            <a:ext cx="2596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progressive techniques: zero-shot baseline → few-shot examples → chain-of-thought reasoning → persona + format constraints. Same model, same app idea, four dramatically different outputs.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355848" y="3145536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355848" y="3328416"/>
            <a:ext cx="2596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persona+constraints PRD included specific user stories, measurable success metrics, and defined technical requirements — all from prompt design, zero model fine-tuning.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27832" y="4636008"/>
            <a:ext cx="2798064" cy="347472"/>
          </a:xfrm>
          <a:prstGeom prst="rect">
            <a:avLst/>
          </a:prstGeom>
          <a:solidFill>
            <a:srgbClr val="C8720A">
              <a:alpha val="75000"/>
            </a:srgbClr>
          </a:solidFill>
          <a:ln w="12700">
            <a:solidFill>
              <a:srgbClr val="C8720A">
                <a:alpha val="7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00984" y="4636008"/>
            <a:ext cx="2688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 · Prompt Engineering · Google Colab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181344" y="914400"/>
            <a:ext cx="2798064" cy="4078224"/>
          </a:xfrm>
          <a:prstGeom prst="rect">
            <a:avLst/>
          </a:prstGeom>
          <a:solidFill>
            <a:srgbClr val="151005"/>
          </a:solidFill>
          <a:ln w="12700">
            <a:solidFill>
              <a:srgbClr val="C8720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09360" y="1005840"/>
            <a:ext cx="1417320" cy="219456"/>
          </a:xfrm>
          <a:prstGeom prst="roundRect">
            <a:avLst>
              <a:gd name="adj" fmla="val 16667"/>
            </a:avLst>
          </a:prstGeom>
          <a:solidFill>
            <a:srgbClr val="C8720A">
              <a:alpha val="80000"/>
            </a:srgbClr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0" y="100584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· MD13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7808976" y="96926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72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6309360" y="1280160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Privacy &amp; AI Surveillance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309360" y="1709928"/>
            <a:ext cx="2523744" cy="18288"/>
          </a:xfrm>
          <a:prstGeom prst="rect">
            <a:avLst/>
          </a:prstGeom>
          <a:solidFill>
            <a:srgbClr val="C8720A"/>
          </a:solidFill>
          <a:ln w="12700">
            <a:solidFill>
              <a:srgbClr val="C8720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0" y="1783080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309360" y="1965960"/>
            <a:ext cx="2596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Argue for reform of AI facial recognition surveillance using documented wrongful arrest cases as evidence of systemic harm.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309360" y="2395728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309360" y="2578608"/>
            <a:ext cx="2596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PEEL-structured argumentative essay. Cases: Randal Reid (2022) and Angela Lipps (2026). Three reform tracks: federal legislation, technical standards, industry accountability (Microsoft Responsible AI).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309360" y="3145536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309360" y="3328416"/>
            <a:ext cx="2596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Essay demonstrates that both cases share one root cause — treating a software output as a verdict — and that fixing only one reform track leaves the system broken.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181344" y="4636008"/>
            <a:ext cx="2798064" cy="347472"/>
          </a:xfrm>
          <a:prstGeom prst="rect">
            <a:avLst/>
          </a:prstGeom>
          <a:solidFill>
            <a:srgbClr val="C8720A">
              <a:alpha val="75000"/>
            </a:srgbClr>
          </a:solidFill>
          <a:ln w="12700">
            <a:solidFill>
              <a:srgbClr val="C8720A">
                <a:alpha val="75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54496" y="4636008"/>
            <a:ext cx="2688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PEEL Structure · MLA 9 · Responsible AI Framework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0" y="4919472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github.com/med27-coder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 &amp; Competencies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54864" cy="923544"/>
          </a:xfrm>
          <a:prstGeom prst="rect">
            <a:avLst/>
          </a:prstGeom>
          <a:solidFill>
            <a:srgbClr val="C8720A"/>
          </a:solidFill>
          <a:ln w="12700">
            <a:solidFill>
              <a:srgbClr val="C872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96012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872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TEXT PROCESSING &amp; CLASSICAL NLP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75488" y="123444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cleaning with regex — lowercasing, special char removal, normalization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152704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vectorization — keyword extraction and document representation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181965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embeddings (GloVe) — semantic similarity and vector arithmetic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176272"/>
            <a:ext cx="54864" cy="923544"/>
          </a:xfrm>
          <a:prstGeom prst="rect">
            <a:avLst/>
          </a:prstGeom>
          <a:solidFill>
            <a:srgbClr val="C8720A"/>
          </a:solidFill>
          <a:ln w="12700">
            <a:solidFill>
              <a:srgbClr val="C872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17627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872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ENGINEERING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245059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Zero-shot, few-shot, and chain-of-thought prompting techniques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274320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assignment and constraint specification for structured output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" y="303580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 integration for generative AI completions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383280"/>
            <a:ext cx="54864" cy="923544"/>
          </a:xfrm>
          <a:prstGeom prst="rect">
            <a:avLst/>
          </a:prstGeom>
          <a:solidFill>
            <a:srgbClr val="C8720A"/>
          </a:solidFill>
          <a:ln w="12700">
            <a:solidFill>
              <a:srgbClr val="C872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338328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872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AGENTS &amp; RESPONSIBLE AI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" y="365760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+ LangGraph — tool-augmented agent with StateGraph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" y="395020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deployment via Ollama (Llama 3.2, no API key)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" y="424281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ethics &amp; policy — facial recognition bias, privacy, federal oversight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760720" y="914400"/>
            <a:ext cx="3063240" cy="3977640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0" y="102412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STACK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760720" y="1389888"/>
            <a:ext cx="3063240" cy="347472"/>
          </a:xfrm>
          <a:prstGeom prst="rect">
            <a:avLst/>
          </a:prstGeom>
          <a:solidFill>
            <a:srgbClr val="182010"/>
          </a:solidFill>
          <a:ln w="12700">
            <a:solidFill>
              <a:srgbClr val="18201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70448" y="139903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086600" y="139903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760720" y="1792224"/>
            <a:ext cx="3063240" cy="347472"/>
          </a:xfrm>
          <a:prstGeom prst="rect">
            <a:avLst/>
          </a:prstGeom>
          <a:solidFill>
            <a:srgbClr val="101808"/>
          </a:solidFill>
          <a:ln w="12700">
            <a:solidFill>
              <a:srgbClr val="10180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70448" y="18013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086600" y="180136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· Gensim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760720" y="2194560"/>
            <a:ext cx="3063240" cy="347472"/>
          </a:xfrm>
          <a:prstGeom prst="rect">
            <a:avLst/>
          </a:prstGeom>
          <a:solidFill>
            <a:srgbClr val="182010"/>
          </a:solidFill>
          <a:ln w="12700">
            <a:solidFill>
              <a:srgbClr val="18201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70448" y="220370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086600" y="220370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 · Word2Vec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760720" y="2596896"/>
            <a:ext cx="3063240" cy="347472"/>
          </a:xfrm>
          <a:prstGeom prst="rect">
            <a:avLst/>
          </a:prstGeom>
          <a:solidFill>
            <a:srgbClr val="101808"/>
          </a:solidFill>
          <a:ln w="12700">
            <a:solidFill>
              <a:srgbClr val="10180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70448" y="260604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086600" y="260604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760720" y="2999232"/>
            <a:ext cx="3063240" cy="347472"/>
          </a:xfrm>
          <a:prstGeom prst="rect">
            <a:avLst/>
          </a:prstGeom>
          <a:solidFill>
            <a:srgbClr val="182010"/>
          </a:solidFill>
          <a:ln w="12700">
            <a:solidFill>
              <a:srgbClr val="18201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70448" y="300837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086600" y="300837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· LangGraph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760720" y="3401568"/>
            <a:ext cx="3063240" cy="347472"/>
          </a:xfrm>
          <a:prstGeom prst="rect">
            <a:avLst/>
          </a:prstGeom>
          <a:solidFill>
            <a:srgbClr val="101808"/>
          </a:solidFill>
          <a:ln w="12700">
            <a:solidFill>
              <a:srgbClr val="10180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70448" y="341071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086600" y="341071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· Llama 3.2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760720" y="3803904"/>
            <a:ext cx="3063240" cy="347472"/>
          </a:xfrm>
          <a:prstGeom prst="rect">
            <a:avLst/>
          </a:prstGeom>
          <a:solidFill>
            <a:srgbClr val="182010"/>
          </a:solidFill>
          <a:ln w="12700">
            <a:solidFill>
              <a:srgbClr val="18201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70448" y="3813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086600" y="38130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760720" y="4206240"/>
            <a:ext cx="3063240" cy="347472"/>
          </a:xfrm>
          <a:prstGeom prst="rect">
            <a:avLst/>
          </a:prstGeom>
          <a:solidFill>
            <a:srgbClr val="101808"/>
          </a:solidFill>
          <a:ln w="12700">
            <a:solidFill>
              <a:srgbClr val="10180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70448" y="421538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086600" y="421538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· GitHub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0" y="4873752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github.com/med27-coder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720A"/>
          </a:solidFill>
          <a:ln w="12700">
            <a:solidFill>
              <a:srgbClr val="C872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3760" y="3383280"/>
            <a:ext cx="2743200" cy="2743200"/>
          </a:xfrm>
          <a:prstGeom prst="ellipse">
            <a:avLst/>
          </a:prstGeom>
          <a:solidFill>
            <a:srgbClr val="C8720A">
              <a:alpha val="15000"/>
            </a:srgbClr>
          </a:solidFill>
          <a:ln w="12700">
            <a:solidFill>
              <a:srgbClr val="C8720A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3840480"/>
            <a:ext cx="1645920" cy="1645920"/>
          </a:xfrm>
          <a:prstGeom prst="ellipse">
            <a:avLst/>
          </a:prstGeom>
          <a:solidFill>
            <a:srgbClr val="E8A020">
              <a:alpha val="22000"/>
            </a:srgbClr>
          </a:solidFill>
          <a:ln w="12700">
            <a:solidFill>
              <a:srgbClr val="E8A020">
                <a:alpha val="2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29260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Reflection &amp; Next Steps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84048" y="914400"/>
            <a:ext cx="3657600" cy="27432"/>
          </a:xfrm>
          <a:prstGeom prst="rect">
            <a:avLst/>
          </a:prstGeom>
          <a:solidFill>
            <a:srgbClr val="C8720A"/>
          </a:solidFill>
          <a:ln w="12700">
            <a:solidFill>
              <a:srgbClr val="C872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424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389888"/>
            <a:ext cx="182880" cy="182880"/>
          </a:xfrm>
          <a:prstGeom prst="ellipse">
            <a:avLst/>
          </a:prstGeom>
          <a:solidFill>
            <a:srgbClr val="C8720A"/>
          </a:solidFill>
          <a:ln w="12700">
            <a:solidFill>
              <a:srgbClr val="C872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353312"/>
            <a:ext cx="5212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ITAI 2373 showed me that NLP is not about reading text — it is about representing meaning as structure a machine can reason over, from regex to vectors to agent tool-calls.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4048" y="1865376"/>
            <a:ext cx="182880" cy="182880"/>
          </a:xfrm>
          <a:prstGeom prst="ellipse">
            <a:avLst/>
          </a:prstGeom>
          <a:solidFill>
            <a:srgbClr val="C8720A"/>
          </a:solidFill>
          <a:ln w="12700">
            <a:solidFill>
              <a:srgbClr val="C872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828800"/>
            <a:ext cx="5212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shift: prompt engineering is not a workaround. It is a discipline. The same model produced generic noise or professional deliverables based solely on how the task was framed.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" y="2340864"/>
            <a:ext cx="182880" cy="182880"/>
          </a:xfrm>
          <a:prstGeom prst="ellipse">
            <a:avLst/>
          </a:prstGeom>
          <a:solidFill>
            <a:srgbClr val="C8720A"/>
          </a:solidFill>
          <a:ln w="12700">
            <a:solidFill>
              <a:srgbClr val="C872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304288"/>
            <a:ext cx="5212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StudyBot made the difference between 'calling an API' and 'building an agent' concrete — tools, state, and a reasoning loop are the three things that turn a chatbot into a system.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4048" y="2926080"/>
            <a:ext cx="3657600" cy="27432"/>
          </a:xfrm>
          <a:prstGeom prst="rect">
            <a:avLst/>
          </a:prstGeom>
          <a:solidFill>
            <a:srgbClr val="C8720A"/>
          </a:solidFill>
          <a:ln w="12700">
            <a:solidFill>
              <a:srgbClr val="C872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3017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58368" y="3337560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Computer Vision — ITAI 1378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" y="3538728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YOLOv8, VLMs, AI agents with visual perception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8368" y="3758184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 Learning — ITAI 2376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" y="395935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Transformers, diffusion models, RL agents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8368" y="4178808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Science — ITAI 2377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" y="4379976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systems, responsible AI, deployment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43600" y="1051560"/>
            <a:ext cx="2880360" cy="2697480"/>
          </a:xfrm>
          <a:prstGeom prst="rect">
            <a:avLst/>
          </a:prstGeom>
          <a:solidFill>
            <a:srgbClr val="0A1218"/>
          </a:solidFill>
          <a:ln w="12700">
            <a:solidFill>
              <a:srgbClr val="C872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0" y="117043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5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080760" y="15361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080760" y="17373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github.com/med27-coder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080760" y="21305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080760" y="23317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franciscomed927@gmail.com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80760" y="27249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080760" y="292608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francisco-medina-9b015b380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0" y="477316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Francisco Medina  ·  ITAI 2373  ·  Spring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NLP Portfolio – ITAI 2373</dc:title>
  <dc:subject>PptxGenJS Presentation</dc:subject>
  <dc:creator>PptxGenJS</dc:creator>
  <cp:lastModifiedBy>PptxGenJS</cp:lastModifiedBy>
  <cp:revision>1</cp:revision>
  <dcterms:created xsi:type="dcterms:W3CDTF">2026-05-12T00:50:28Z</dcterms:created>
  <dcterms:modified xsi:type="dcterms:W3CDTF">2026-05-12T00:50:28Z</dcterms:modified>
</cp:coreProperties>
</file>