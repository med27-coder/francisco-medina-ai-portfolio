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23760" y="-822960"/>
            <a:ext cx="2743200" cy="2743200"/>
          </a:xfrm>
          <a:prstGeom prst="ellipse">
            <a:avLst/>
          </a:prstGeom>
          <a:solidFill>
            <a:srgbClr val="4B2D8F">
              <a:alpha val="18000"/>
            </a:srgbClr>
          </a:solidFill>
          <a:ln w="12700">
            <a:solidFill>
              <a:srgbClr val="4B2D8F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-274320"/>
            <a:ext cx="1463040" cy="1463040"/>
          </a:xfrm>
          <a:prstGeom prst="ellipse">
            <a:avLst/>
          </a:prstGeom>
          <a:solidFill>
            <a:srgbClr val="7B52D4">
              <a:alpha val="25000"/>
            </a:srgbClr>
          </a:solidFill>
          <a:ln w="12700">
            <a:solidFill>
              <a:srgbClr val="7B52D4">
                <a:alpha val="2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144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Francisco Medina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11480" y="1719072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B5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AI Student  ·  Deep Learning  ·  Neural Networks  ·  Generative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11480" y="2231136"/>
            <a:ext cx="5303520" cy="27432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359152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Program: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Artificial Intel – ITAI 2376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Institution: 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Houston Community College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Patricia McManus, M.S.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480" y="3493008"/>
            <a:ext cx="1463040" cy="658368"/>
          </a:xfrm>
          <a:prstGeom prst="roundRect">
            <a:avLst>
              <a:gd name="adj" fmla="val 9722"/>
            </a:avLst>
          </a:prstGeom>
          <a:solidFill>
            <a:srgbClr val="4B2D8F">
              <a:alpha val="80000"/>
            </a:srgbClr>
          </a:solidFill>
          <a:ln w="12700">
            <a:solidFill>
              <a:srgbClr val="7B52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5204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1480" y="38587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03120" y="3493008"/>
            <a:ext cx="1463040" cy="658368"/>
          </a:xfrm>
          <a:prstGeom prst="roundRect">
            <a:avLst>
              <a:gd name="adj" fmla="val 9722"/>
            </a:avLst>
          </a:prstGeom>
          <a:solidFill>
            <a:srgbClr val="4B2D8F">
              <a:alpha val="80000"/>
            </a:srgbClr>
          </a:solidFill>
          <a:ln w="12700">
            <a:solidFill>
              <a:srgbClr val="7B52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3120" y="35204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103120" y="38587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94760" y="3493008"/>
            <a:ext cx="1463040" cy="658368"/>
          </a:xfrm>
          <a:prstGeom prst="roundRect">
            <a:avLst>
              <a:gd name="adj" fmla="val 9722"/>
            </a:avLst>
          </a:prstGeom>
          <a:solidFill>
            <a:srgbClr val="4B2D8F">
              <a:alpha val="80000"/>
            </a:srgbClr>
          </a:solidFill>
          <a:ln w="12700">
            <a:solidFill>
              <a:srgbClr val="7B52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94760" y="35204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794760" y="38587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Projects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4315968"/>
            <a:ext cx="2743200" cy="475488"/>
          </a:xfrm>
          <a:prstGeom prst="roundRect">
            <a:avLst>
              <a:gd name="adj" fmla="val 15385"/>
            </a:avLst>
          </a:prstGeom>
          <a:solidFill>
            <a:srgbClr val="4B2D8F">
              <a:alpha val="80000"/>
            </a:srgbClr>
          </a:solidFill>
          <a:ln w="12700">
            <a:solidFill>
              <a:srgbClr val="7B52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431596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⬡  github.com/med27-coder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" y="477316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Portfolio  |  Spring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04672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Journey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4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" y="1170432"/>
            <a:ext cx="45720" cy="3566160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1152144"/>
            <a:ext cx="548640" cy="256032"/>
          </a:xfrm>
          <a:prstGeom prst="roundRect">
            <a:avLst>
              <a:gd name="adj" fmla="val 14286"/>
            </a:avLst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15214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Neural Network Foundations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05840" y="134416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3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TF · Backprop from Scratch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" y="1865376"/>
            <a:ext cx="548640" cy="256032"/>
          </a:xfrm>
          <a:prstGeom prst="roundRect">
            <a:avLst>
              <a:gd name="adj" fmla="val 14286"/>
            </a:avLst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865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M03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05840" y="185623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CNN — Puppy or Bagel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05840" y="2057400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3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· Conv2D · Data Augmentation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4048" y="2578608"/>
            <a:ext cx="548640" cy="256032"/>
          </a:xfrm>
          <a:prstGeom prst="roundRect">
            <a:avLst>
              <a:gd name="adj" fmla="val 14286"/>
            </a:avLst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25786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L05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05840" y="256946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RNNs vs Transformers vs ViT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05840" y="277063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3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· BERT · Vision Transformer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" y="3291840"/>
            <a:ext cx="548640" cy="256032"/>
          </a:xfrm>
          <a:prstGeom prst="roundRect">
            <a:avLst>
              <a:gd name="adj" fmla="val 14286"/>
            </a:avLst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32918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L08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05840" y="328269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Diffusion Image Generation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05840" y="3483864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3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DDPM · U-Net · CelebA · CLIP Eval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4048" y="4005072"/>
            <a:ext cx="548640" cy="256032"/>
          </a:xfrm>
          <a:prstGeom prst="roundRect">
            <a:avLst>
              <a:gd name="adj" fmla="val 14286"/>
            </a:avLst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00507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L09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05840" y="39959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RL Foundations — CartPole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05840" y="4197096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38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 · Q-Learning · Bellman Eq.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868680"/>
            <a:ext cx="27432" cy="402336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914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846320" y="1170432"/>
            <a:ext cx="45720" cy="3566160"/>
          </a:xfrm>
          <a:prstGeom prst="rect">
            <a:avLst/>
          </a:prstGeom>
          <a:solidFill>
            <a:srgbClr val="1DB88E"/>
          </a:solidFill>
          <a:ln w="12700">
            <a:solidFill>
              <a:srgbClr val="1DB88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56048" y="1152144"/>
            <a:ext cx="548640" cy="256032"/>
          </a:xfrm>
          <a:prstGeom prst="roundRect">
            <a:avLst>
              <a:gd name="adj" fmla="val 14286"/>
            </a:avLst>
          </a:prstGeom>
          <a:solidFill>
            <a:srgbClr val="1DB88E"/>
          </a:solidFill>
          <a:ln w="12700">
            <a:solidFill>
              <a:srgbClr val="1DB88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115214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A01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577840" y="11430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HuggingFace vs GPT-4 API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577840" y="134416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research paper · Team 2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956048" y="1865376"/>
            <a:ext cx="548640" cy="256032"/>
          </a:xfrm>
          <a:prstGeom prst="roundRect">
            <a:avLst>
              <a:gd name="adj" fmla="val 14286"/>
            </a:avLst>
          </a:prstGeom>
          <a:solidFill>
            <a:srgbClr val="1DB88E"/>
          </a:solidFill>
          <a:ln w="12700">
            <a:solidFill>
              <a:srgbClr val="1DB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1865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A02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77840" y="185623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Neural Network Zoo — GANs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577840" y="20574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Octopus presentation + reflection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956048" y="2578608"/>
            <a:ext cx="548640" cy="256032"/>
          </a:xfrm>
          <a:prstGeom prst="roundRect">
            <a:avLst>
              <a:gd name="adj" fmla="val 14286"/>
            </a:avLst>
          </a:prstGeom>
          <a:solidFill>
            <a:srgbClr val="1DB88E"/>
          </a:solidFill>
          <a:ln w="12700">
            <a:solidFill>
              <a:srgbClr val="1DB88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6048" y="25786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A03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577840" y="25694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Backpropagation for Kids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577840" y="2770632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presentation for younger audience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956048" y="3291840"/>
            <a:ext cx="548640" cy="256032"/>
          </a:xfrm>
          <a:prstGeom prst="roundRect">
            <a:avLst>
              <a:gd name="adj" fmla="val 14286"/>
            </a:avLst>
          </a:prstGeom>
          <a:solidFill>
            <a:srgbClr val="1DB88E"/>
          </a:solidFill>
          <a:ln w="12700">
            <a:solidFill>
              <a:srgbClr val="1DB8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56048" y="32918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A04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577840" y="32826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0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Arrival (2016) &amp; NLP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577840" y="3483864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Extraterrestrial language as NLP challenge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0" y="486460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github.com/med27-coder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Featured Projects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98064" cy="4078224"/>
          </a:xfrm>
          <a:prstGeom prst="rect">
            <a:avLst/>
          </a:prstGeom>
          <a:solidFill>
            <a:srgbClr val="160A28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02336" y="1005840"/>
            <a:ext cx="1097280" cy="219456"/>
          </a:xfrm>
          <a:prstGeom prst="roundRect">
            <a:avLst>
              <a:gd name="adj" fmla="val 16667"/>
            </a:avLst>
          </a:prstGeom>
          <a:solidFill>
            <a:srgbClr val="1DB88E">
              <a:alpha val="80000"/>
            </a:srgbClr>
          </a:solidFill>
          <a:ln w="12700">
            <a:solidFill>
              <a:srgbClr val="1DB8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" y="100584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L08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572768" y="96926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52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02336" y="128016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Diffusion Image Generation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2336" y="1709928"/>
            <a:ext cx="2523744" cy="18288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178308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02336" y="1965960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generative model to produce realistic faces from pure Gaussian noise — no discriminator needed.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02336" y="2340864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02336" y="2523744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DDPM pipeline with a U-Net backbone trained to predict added noise. CelebA dataset. Written analysis report included.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02336" y="3090672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02336" y="3273552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dropped from ~1.0 → 0.0607 after epoch 1. CLIP rated 40% good quality. U-Net skip connections restored spatial detail compression would lose.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4636008"/>
            <a:ext cx="2798064" cy="347472"/>
          </a:xfrm>
          <a:prstGeom prst="rect">
            <a:avLst/>
          </a:prstGeom>
          <a:solidFill>
            <a:srgbClr val="4B2D8F">
              <a:alpha val="75000"/>
            </a:srgbClr>
          </a:solidFill>
          <a:ln w="12700">
            <a:solidFill>
              <a:srgbClr val="4B2D8F">
                <a:alpha val="7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4636008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DDPM · U-Net · CelebA · CLIP · A100 GPU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27832" y="914400"/>
            <a:ext cx="2798064" cy="4078224"/>
          </a:xfrm>
          <a:prstGeom prst="rect">
            <a:avLst/>
          </a:prstGeom>
          <a:solidFill>
            <a:srgbClr val="160A28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55848" y="1005840"/>
            <a:ext cx="1097280" cy="219456"/>
          </a:xfrm>
          <a:prstGeom prst="roundRect">
            <a:avLst>
              <a:gd name="adj" fmla="val 16667"/>
            </a:avLst>
          </a:prstGeom>
          <a:solidFill>
            <a:srgbClr val="1DB88E">
              <a:alpha val="80000"/>
            </a:srgbClr>
          </a:solidFill>
          <a:ln w="12700">
            <a:solidFill>
              <a:srgbClr val="1DB88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55848" y="100584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L09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26280" y="96926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52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355848" y="128016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RL Agent — CartPole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355848" y="1709928"/>
            <a:ext cx="2523744" cy="18288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178308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355848" y="1965960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an agent to balance a pole using reward signals alone — no labeled training data.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355848" y="2340864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355848" y="2523744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with ε-greedy exploration in CartPole-v1. Bellman equation Q-table updates each episode. Decaying ε over training.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355848" y="3090672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355848" y="3273552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agent dramatically outperformed random baseline. Episode duration increased consistently, confirming stable convergence.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27832" y="4636008"/>
            <a:ext cx="2798064" cy="347472"/>
          </a:xfrm>
          <a:prstGeom prst="rect">
            <a:avLst/>
          </a:prstGeom>
          <a:solidFill>
            <a:srgbClr val="4B2D8F">
              <a:alpha val="75000"/>
            </a:srgbClr>
          </a:solidFill>
          <a:ln w="12700">
            <a:solidFill>
              <a:srgbClr val="4B2D8F">
                <a:alpha val="7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00984" y="4636008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 · Q-Learning · Bellman Equation · NumPy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81344" y="914400"/>
            <a:ext cx="2798064" cy="4078224"/>
          </a:xfrm>
          <a:prstGeom prst="rect">
            <a:avLst/>
          </a:prstGeom>
          <a:solidFill>
            <a:srgbClr val="160A28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09360" y="1005840"/>
            <a:ext cx="1097280" cy="219456"/>
          </a:xfrm>
          <a:prstGeom prst="roundRect">
            <a:avLst>
              <a:gd name="adj" fmla="val 16667"/>
            </a:avLst>
          </a:prstGeom>
          <a:solidFill>
            <a:srgbClr val="1DB88E">
              <a:alpha val="80000"/>
            </a:srgbClr>
          </a:solidFill>
          <a:ln w="12700">
            <a:solidFill>
              <a:srgbClr val="1DB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100584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A04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479792" y="96926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52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6309360" y="128016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Arrival (2016) &amp; NLP Limits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09360" y="1709928"/>
            <a:ext cx="2523744" cy="18288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178308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309360" y="1965960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film's alien language as a worst-case NLP scenario to expose real limitations of current architectures.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309360" y="2340864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309360" y="2523744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each Heptapod language property to a specific NLP failure: tokenization collapse, zero-shot grounding, lexical ambiguity, sequential assumptions.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309360" y="3090672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309360" y="3273552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Heptapod's semantic hypergraph structure is unsolvable by any current autoregressive model — identified as a genuine open research gap.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81344" y="4636008"/>
            <a:ext cx="2798064" cy="347472"/>
          </a:xfrm>
          <a:prstGeom prst="rect">
            <a:avLst/>
          </a:prstGeom>
          <a:solidFill>
            <a:srgbClr val="4B2D8F">
              <a:alpha val="75000"/>
            </a:srgbClr>
          </a:solidFill>
          <a:ln w="12700">
            <a:solidFill>
              <a:srgbClr val="4B2D8F">
                <a:alpha val="75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54496" y="4636008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Linguistics · NLP Theory · Team Research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0" y="491947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github.com/med27-coder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0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Skills &amp; Competencies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54864" cy="923544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" y="9601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4B2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NEURAL NETWORKS &amp; TRAINING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75488" y="123444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100" dirty="0">
                <a:solidFill>
                  <a:srgbClr val="1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pass, loss, backpropagation — implemented from scratch in NumPy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52704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100" dirty="0">
                <a:solidFill>
                  <a:srgbClr val="1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(nn.Module, DataLoader, SGD, Adam) · TensorFlow/Keras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" y="1819656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100" dirty="0">
                <a:solidFill>
                  <a:srgbClr val="1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detection · Train/validation split · Early stopping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176272"/>
            <a:ext cx="54864" cy="923544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217627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4B2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ARCHITECTURES &amp; MODELS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" y="24505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100" dirty="0">
                <a:solidFill>
                  <a:srgbClr val="1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 (Conv2D, MaxPool, Dropout) · RNNs · BERT · Vision Transformers (ViT)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" y="27432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100" dirty="0">
                <a:solidFill>
                  <a:srgbClr val="1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Models (DDPM) — U-Net with time-step conditioning + CelebA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" y="303580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100" dirty="0">
                <a:solidFill>
                  <a:srgbClr val="1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GANs — Generator vs Discriminator adversarial training loop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3383280"/>
            <a:ext cx="54864" cy="923544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33832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4B2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REINFORCEMENT LEARNING &amp; RESEARCH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" y="365760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100" dirty="0">
                <a:solidFill>
                  <a:srgbClr val="1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· ε-greedy exploration · Bellman equation (CartPole-v1)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" y="395020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100" dirty="0">
                <a:solidFill>
                  <a:srgbClr val="1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analysis: HuggingFace vs GPT-4 API across 5 dimensions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" y="4242816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buNone/>
            </a:pPr>
            <a:r>
              <a:rPr lang="en-US" sz="1100" dirty="0">
                <a:solidFill>
                  <a:srgbClr val="1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theory: symbol grounding, tokenization limits, semantic ambiguity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914400"/>
            <a:ext cx="3063240" cy="3977640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10241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STACK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60720" y="1389888"/>
            <a:ext cx="3063240" cy="347472"/>
          </a:xfrm>
          <a:prstGeom prst="rect">
            <a:avLst/>
          </a:prstGeom>
          <a:solidFill>
            <a:srgbClr val="180E30"/>
          </a:solidFill>
          <a:ln w="12700">
            <a:solidFill>
              <a:srgbClr val="180E3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70448" y="139903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114032" y="1399032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760720" y="1792224"/>
            <a:ext cx="3063240" cy="347472"/>
          </a:xfrm>
          <a:prstGeom prst="rect">
            <a:avLst/>
          </a:prstGeom>
          <a:solidFill>
            <a:srgbClr val="120A25"/>
          </a:solidFill>
          <a:ln w="12700">
            <a:solidFill>
              <a:srgbClr val="120A2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70448" y="180136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 Frameworks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14032" y="1801368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TensorFlow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60720" y="2194560"/>
            <a:ext cx="3063240" cy="347472"/>
          </a:xfrm>
          <a:prstGeom prst="rect">
            <a:avLst/>
          </a:prstGeom>
          <a:solidFill>
            <a:srgbClr val="180E30"/>
          </a:solidFill>
          <a:ln w="12700">
            <a:solidFill>
              <a:srgbClr val="180E3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70448" y="220370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/ Vision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14032" y="2203704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Transformers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760720" y="2596896"/>
            <a:ext cx="3063240" cy="347472"/>
          </a:xfrm>
          <a:prstGeom prst="rect">
            <a:avLst/>
          </a:prstGeom>
          <a:solidFill>
            <a:srgbClr val="120A25"/>
          </a:solidFill>
          <a:ln w="12700">
            <a:solidFill>
              <a:srgbClr val="120A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70448" y="260604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14032" y="2606040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(DDPM) · GANs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760720" y="2999232"/>
            <a:ext cx="3063240" cy="347472"/>
          </a:xfrm>
          <a:prstGeom prst="rect">
            <a:avLst/>
          </a:prstGeom>
          <a:solidFill>
            <a:srgbClr val="180E30"/>
          </a:solidFill>
          <a:ln w="12700">
            <a:solidFill>
              <a:srgbClr val="180E3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70448" y="3008376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114032" y="3008376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 · Q-Learning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760720" y="3401568"/>
            <a:ext cx="3063240" cy="347472"/>
          </a:xfrm>
          <a:prstGeom prst="rect">
            <a:avLst/>
          </a:prstGeom>
          <a:solidFill>
            <a:srgbClr val="120A25"/>
          </a:solidFill>
          <a:ln w="12700">
            <a:solidFill>
              <a:srgbClr val="120A2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70448" y="34107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114032" y="3410712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scoring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60720" y="3803904"/>
            <a:ext cx="3063240" cy="347472"/>
          </a:xfrm>
          <a:prstGeom prst="rect">
            <a:avLst/>
          </a:prstGeom>
          <a:solidFill>
            <a:srgbClr val="180E30"/>
          </a:solidFill>
          <a:ln w="12700">
            <a:solidFill>
              <a:srgbClr val="180E3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0448" y="381304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114032" y="3813048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Jupyter · Google Colab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760720" y="4206240"/>
            <a:ext cx="3063240" cy="347472"/>
          </a:xfrm>
          <a:prstGeom prst="rect">
            <a:avLst/>
          </a:prstGeom>
          <a:solidFill>
            <a:srgbClr val="120A25"/>
          </a:solidFill>
          <a:ln w="12700">
            <a:solidFill>
              <a:srgbClr val="120A2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70448" y="421538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114032" y="4215384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GitHub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0" y="487375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github.com/med27-coder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23760" y="3383280"/>
            <a:ext cx="2743200" cy="2743200"/>
          </a:xfrm>
          <a:prstGeom prst="ellipse">
            <a:avLst/>
          </a:prstGeom>
          <a:solidFill>
            <a:srgbClr val="4B2D8F">
              <a:alpha val="15000"/>
            </a:srgbClr>
          </a:solidFill>
          <a:ln w="12700">
            <a:solidFill>
              <a:srgbClr val="4B2D8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3840480"/>
            <a:ext cx="1645920" cy="1645920"/>
          </a:xfrm>
          <a:prstGeom prst="ellipse">
            <a:avLst/>
          </a:prstGeom>
          <a:solidFill>
            <a:srgbClr val="7B52D4">
              <a:alpha val="22000"/>
            </a:srgbClr>
          </a:solidFill>
          <a:ln w="12700">
            <a:solidFill>
              <a:srgbClr val="7B52D4">
                <a:alpha val="22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29260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Reflection &amp; Next Steps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84048" y="914400"/>
            <a:ext cx="3657600" cy="27432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0424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" y="1389888"/>
            <a:ext cx="182880" cy="182880"/>
          </a:xfrm>
          <a:prstGeom prst="ellipse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353312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ITAI 2376 showed me that deep learning's core idea — measure error, propagate signal, adjust — runs through backpropagation, diffusion, GANs, and RL simultaneously.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4048" y="1865376"/>
            <a:ext cx="182880" cy="182880"/>
          </a:xfrm>
          <a:prstGeom prst="ellipse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828800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assignments (GAN Octopus, Arrival NLP, HuggingFace vs GPT-4) taught me that understanding AI requires both building it and thinking critically about its limits.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4048" y="2340864"/>
            <a:ext cx="182880" cy="182880"/>
          </a:xfrm>
          <a:prstGeom prst="ellipse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304288"/>
            <a:ext cx="5212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F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debugging session — from wrong tensor shapes to a diffusion model that only learned color blobs after epoch 1 — built intuition that no lecture could.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4048" y="2926080"/>
            <a:ext cx="3657600" cy="27432"/>
          </a:xfrm>
          <a:prstGeom prst="rect">
            <a:avLst/>
          </a:prstGeom>
          <a:solidFill>
            <a:srgbClr val="4B2D8F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17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58368" y="333756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Computer Vision — ITAI 1378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3538728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YOLOv8, transfer learning, AI agents with visual perception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3758184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NLP — ITAI 2373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3959352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in depth, sentiment analysis, chatbot development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4178808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Science — ITAI 2377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4379976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systems, responsible AI, real-world deployment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0" y="1051560"/>
            <a:ext cx="2880360" cy="2697480"/>
          </a:xfrm>
          <a:prstGeom prst="rect">
            <a:avLst/>
          </a:prstGeom>
          <a:solidFill>
            <a:srgbClr val="0E0620"/>
          </a:solidFill>
          <a:ln w="12700">
            <a:solidFill>
              <a:srgbClr val="4B2D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0" y="1170432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50" kern="0" dirty="0">
                <a:solidFill>
                  <a:srgbClr val="1DB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080760" y="15361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080760" y="17373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github.com/med27-coder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080760" y="21305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2331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franciscomed927@gmail.com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80760" y="27249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080760" y="292608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francisco-medina-9b015b380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0" y="477316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8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Medina  ·  ITAI 2376  ·  Spring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Portfolio – ITAI 2376</dc:title>
  <dc:subject>PptxGenJS Presentation</dc:subject>
  <dc:creator>Francisco Medina</dc:creator>
  <cp:lastModifiedBy>Francisco Medina</cp:lastModifiedBy>
  <cp:revision>1</cp:revision>
  <dcterms:created xsi:type="dcterms:W3CDTF">2026-05-11T23:02:45Z</dcterms:created>
  <dcterms:modified xsi:type="dcterms:W3CDTF">2026-05-11T23:02:45Z</dcterms:modified>
</cp:coreProperties>
</file>