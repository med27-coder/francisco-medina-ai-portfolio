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822960"/>
            <a:ext cx="2743200" cy="2743200"/>
          </a:xfrm>
          <a:prstGeom prst="ellipse">
            <a:avLst/>
          </a:prstGeom>
          <a:solidFill>
            <a:srgbClr val="4B2D8F">
              <a:alpha val="18000"/>
            </a:srgbClr>
          </a:solidFill>
          <a:ln w="12700">
            <a:solidFill>
              <a:srgbClr val="4B2D8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274320"/>
            <a:ext cx="1463040" cy="1463040"/>
          </a:xfrm>
          <a:prstGeom prst="ellipse">
            <a:avLst/>
          </a:prstGeom>
          <a:solidFill>
            <a:srgbClr val="7B52D4">
              <a:alpha val="25000"/>
            </a:srgbClr>
          </a:solidFill>
          <a:ln w="12700">
            <a:solidFill>
              <a:srgbClr val="7B52D4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Francisco Medina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5564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B5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Student  ·  Deep Learning  ·  Neural Networks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5303520" cy="27432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9572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Artificial Intel – ITAI 2376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Community College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Patricia McManus, M.S.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675888"/>
            <a:ext cx="2926080" cy="493776"/>
          </a:xfrm>
          <a:prstGeom prst="roundRect">
            <a:avLst>
              <a:gd name="adj" fmla="val 14815"/>
            </a:avLst>
          </a:prstGeom>
          <a:solidFill>
            <a:srgbClr val="4B2D8F">
              <a:alpha val="80000"/>
            </a:srgbClr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7588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github.com/med27-coder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Portfolio  |  Spring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54864" cy="3749040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50976"/>
            <a:ext cx="274320" cy="27432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93268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326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27632" y="9235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Foundations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27632" y="113385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vs TensorFlow · Backprop from Scratch · Weight Updates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499616"/>
            <a:ext cx="274320" cy="27432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48132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4813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27632" y="14721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— Puppy or Bagel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27632" y="168249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· Conv2D · MaxPool · Data Augmentation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048256"/>
            <a:ext cx="274320" cy="27432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202996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0299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27632" y="20208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 for Kids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27632" y="223113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· Forward &amp; Backward Pass · Gradient Descent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596896"/>
            <a:ext cx="274320" cy="274320"/>
          </a:xfrm>
          <a:prstGeom prst="ellipse">
            <a:avLst/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257860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5786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27632" y="25694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RNNs vs Transformers vs ViT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27632" y="277977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· BERT · Vision Transformer · Attention Mechanism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145536"/>
            <a:ext cx="274320" cy="274320"/>
          </a:xfrm>
          <a:prstGeom prst="ellipse">
            <a:avLst/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312724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127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27632" y="3118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Image Generation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27632" y="33284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· U-Net · Noise Schedule · PyTorch · einops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694176"/>
            <a:ext cx="274320" cy="274320"/>
          </a:xfrm>
          <a:prstGeom prst="ellipse">
            <a:avLst/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3675888"/>
            <a:ext cx="594360" cy="274320"/>
          </a:xfrm>
          <a:prstGeom prst="roundRect">
            <a:avLst>
              <a:gd name="adj" fmla="val 16667"/>
            </a:avLst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6758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627632" y="3666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Foundations — CartPole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27632" y="387705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Q-Learning · ε-Greedy · Bellman Equation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960120"/>
            <a:ext cx="2651760" cy="356616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217920" y="193852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2697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Q-Learning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Exploration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Equation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3364992"/>
            <a:ext cx="2194560" cy="27432"/>
          </a:xfrm>
          <a:prstGeom prst="rect">
            <a:avLst/>
          </a:prstGeom>
          <a:solidFill>
            <a:srgbClr val="7B52D4"/>
          </a:solidFill>
          <a:ln w="12700">
            <a:solidFill>
              <a:srgbClr val="7B52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4290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Featured Projects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98064" cy="4041648"/>
          </a:xfrm>
          <a:prstGeom prst="rect">
            <a:avLst/>
          </a:prstGeom>
          <a:solidFill>
            <a:srgbClr val="160A28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875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5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02336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— Puppy or Bagel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" y="1956816"/>
            <a:ext cx="2523744" cy="18288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02996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2336" y="221284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nearly identical-looking images using a CNN built from scratch with Keras.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25968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2336" y="277977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Conv2D → MaxPool blocks with Dropout and data augmentation. Binary cross-entropy + Adam optimizer.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33558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353872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learned spatial features (fur texture vs sesame seeds) that flat networks cannot detect.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608576"/>
            <a:ext cx="2798064" cy="347472"/>
          </a:xfrm>
          <a:prstGeom prst="rect">
            <a:avLst/>
          </a:prstGeom>
          <a:solidFill>
            <a:srgbClr val="4B2D8F">
              <a:alpha val="75000"/>
            </a:srgbClr>
          </a:solidFill>
          <a:ln w="12700">
            <a:solidFill>
              <a:srgbClr val="4B2D8F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60857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· Conv2D · MaxPool · Augmentation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27832" y="914400"/>
            <a:ext cx="2798064" cy="4041648"/>
          </a:xfrm>
          <a:prstGeom prst="rect">
            <a:avLst/>
          </a:prstGeom>
          <a:solidFill>
            <a:srgbClr val="160A28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9875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5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355848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 Image Generation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55848" y="1956816"/>
            <a:ext cx="2523744" cy="18288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02996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55848" y="221284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generative AI model that creates realistic images from pure Gaussian noise.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55848" y="25968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55848" y="277977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DDPM with forward noise schedule and a U-Net backbone trained to predict added noise at each timestep.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55848" y="33558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55848" y="353872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generated novel images through iterative denoising — stable training, no mode collapse.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27832" y="4608576"/>
            <a:ext cx="2798064" cy="347472"/>
          </a:xfrm>
          <a:prstGeom prst="rect">
            <a:avLst/>
          </a:prstGeom>
          <a:solidFill>
            <a:srgbClr val="4B2D8F">
              <a:alpha val="75000"/>
            </a:srgbClr>
          </a:solidFill>
          <a:ln w="12700">
            <a:solidFill>
              <a:srgbClr val="4B2D8F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460857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DDPM · U-Net · einops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81344" y="914400"/>
            <a:ext cx="2798064" cy="4041648"/>
          </a:xfrm>
          <a:prstGeom prst="rect">
            <a:avLst/>
          </a:prstGeom>
          <a:solidFill>
            <a:srgbClr val="160A28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98755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52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309360" y="1481328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Agent — CartPole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1956816"/>
            <a:ext cx="2523744" cy="18288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02996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09360" y="221284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agent to balance a pole using only reward signals — no labeled data.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25968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09360" y="277977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with ε-greedy exploration in CartPole-v1 (Gymnasium). Bellman equation updates Q-table each episode.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3558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09360" y="353872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agent far outperformed random baseline, achieving stable pole balancing through pure reward-driven learning.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1344" y="4608576"/>
            <a:ext cx="2798064" cy="347472"/>
          </a:xfrm>
          <a:prstGeom prst="rect">
            <a:avLst/>
          </a:prstGeom>
          <a:solidFill>
            <a:srgbClr val="4B2D8F">
              <a:alpha val="75000"/>
            </a:srgbClr>
          </a:solidFill>
          <a:ln w="12700">
            <a:solidFill>
              <a:srgbClr val="4B2D8F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4608576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Q-Learning · ε-Greedy · NumPy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&amp; Competencies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4864" cy="923544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0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B2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 &amp; TRAINING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" y="1234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loss, backpropagation — implemented from scratch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27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(nn.Module, DataLoader, SGD, Adam) · TensorFlow/Keras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detection · Train/validation split · Early stopping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54864" cy="923544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762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B2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(Conv2D, MaxPool, Dropout) for image 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· Transformers (BERT) · Vision Transformers (ViT)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0358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with time-step conditioning (Diffusion models)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54864" cy="923544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832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B2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&amp; REINFORCEMENT LEARNING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(DDPM) — noise schedule, denoising process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39502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· ε-greedy exploration · Bellman equation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2428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(CartPole-v1) environment interaction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63240" cy="397764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024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STACK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3063240" cy="347472"/>
          </a:xfrm>
          <a:prstGeom prst="rect">
            <a:avLst/>
          </a:prstGeom>
          <a:solidFill>
            <a:srgbClr val="180E30"/>
          </a:solidFill>
          <a:ln w="12700">
            <a:solidFill>
              <a:srgbClr val="180E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3990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86600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1792224"/>
            <a:ext cx="3063240" cy="347472"/>
          </a:xfrm>
          <a:prstGeom prst="rect">
            <a:avLst/>
          </a:prstGeom>
          <a:solidFill>
            <a:srgbClr val="120A25"/>
          </a:solidFill>
          <a:ln w="12700">
            <a:solidFill>
              <a:srgbClr val="120A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1801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Frameworks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18013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TensorFlow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2194560"/>
            <a:ext cx="3063240" cy="347472"/>
          </a:xfrm>
          <a:prstGeom prst="rect">
            <a:avLst/>
          </a:prstGeom>
          <a:solidFill>
            <a:srgbClr val="180E30"/>
          </a:solidFill>
          <a:ln w="12700">
            <a:solidFill>
              <a:srgbClr val="180E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70448" y="2203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Vision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86600" y="2203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60720" y="2596896"/>
            <a:ext cx="3063240" cy="347472"/>
          </a:xfrm>
          <a:prstGeom prst="rect">
            <a:avLst/>
          </a:prstGeom>
          <a:solidFill>
            <a:srgbClr val="120A25"/>
          </a:solidFill>
          <a:ln w="12700">
            <a:solidFill>
              <a:srgbClr val="120A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2606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(DDPM) · einops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2999232"/>
            <a:ext cx="3063240" cy="347472"/>
          </a:xfrm>
          <a:prstGeom prst="rect">
            <a:avLst/>
          </a:prstGeom>
          <a:solidFill>
            <a:srgbClr val="180E30"/>
          </a:solidFill>
          <a:ln w="12700">
            <a:solidFill>
              <a:srgbClr val="180E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008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86600" y="30083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· Q-Learning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60720" y="3401568"/>
            <a:ext cx="3063240" cy="347472"/>
          </a:xfrm>
          <a:prstGeom prst="rect">
            <a:avLst/>
          </a:prstGeom>
          <a:solidFill>
            <a:srgbClr val="120A25"/>
          </a:solidFill>
          <a:ln w="12700">
            <a:solidFill>
              <a:srgbClr val="120A2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410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Matplotlib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803904"/>
            <a:ext cx="3063240" cy="347472"/>
          </a:xfrm>
          <a:prstGeom prst="rect">
            <a:avLst/>
          </a:prstGeom>
          <a:solidFill>
            <a:srgbClr val="180E30"/>
          </a:solidFill>
          <a:ln w="12700">
            <a:solidFill>
              <a:srgbClr val="180E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813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3813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· Google Colab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0720" y="4206240"/>
            <a:ext cx="3063240" cy="347472"/>
          </a:xfrm>
          <a:prstGeom prst="rect">
            <a:avLst/>
          </a:prstGeom>
          <a:solidFill>
            <a:srgbClr val="120A25"/>
          </a:solidFill>
          <a:ln w="12700">
            <a:solidFill>
              <a:srgbClr val="120A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42153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42153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487375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3383280"/>
            <a:ext cx="2743200" cy="2743200"/>
          </a:xfrm>
          <a:prstGeom prst="ellipse">
            <a:avLst/>
          </a:prstGeom>
          <a:solidFill>
            <a:srgbClr val="4B2D8F">
              <a:alpha val="15000"/>
            </a:srgbClr>
          </a:solidFill>
          <a:ln w="12700">
            <a:solidFill>
              <a:srgbClr val="4B2D8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840480"/>
            <a:ext cx="1645920" cy="1645920"/>
          </a:xfrm>
          <a:prstGeom prst="ellipse">
            <a:avLst/>
          </a:prstGeom>
          <a:solidFill>
            <a:srgbClr val="7B52D4">
              <a:alpha val="22000"/>
            </a:srgbClr>
          </a:solidFill>
          <a:ln w="12700">
            <a:solidFill>
              <a:srgbClr val="7B52D4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3657600" cy="27432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89888"/>
            <a:ext cx="182880" cy="18288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35331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2376 changed how I think about intelligence — from a black box to a system of weights, gradients, and feedback loops I can reason about and build.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182880" cy="18288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shift: understanding that backpropagation, diffusion, and Q-learning all share the same core idea — measure error, propagate signal, adjust.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340864"/>
            <a:ext cx="182880" cy="182880"/>
          </a:xfrm>
          <a:prstGeom prst="ellipse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0428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diffusion model and a RL agent in the same course showed me how broadly deep learning applies beyond classification.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926080"/>
            <a:ext cx="3657600" cy="27432"/>
          </a:xfrm>
          <a:prstGeom prst="rect">
            <a:avLst/>
          </a:prstGeom>
          <a:solidFill>
            <a:srgbClr val="4B2D8F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33375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— ITAI 1378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538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YOLOv8, transfer learning, AI agents with visual perception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— ITAI 2373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95935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in depth, sentiment analysis, chatbot development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41788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— ITAI 2377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799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systems, responsible AI, real-world deployment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880360" cy="2560320"/>
          </a:xfrm>
          <a:prstGeom prst="rect">
            <a:avLst/>
          </a:prstGeom>
          <a:solidFill>
            <a:srgbClr val="0E0620"/>
          </a:solidFill>
          <a:ln w="12700">
            <a:solidFill>
              <a:srgbClr val="4B2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1704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1DB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536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737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github.com/med27-coder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084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franciscomed927@gmail.com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francisco-medina-9b015b380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0" y="47731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8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Medina  ·  ITAI 2376  ·  Spring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Portfolio – ITAI 2376</dc:title>
  <dc:subject>PptxGenJS Presentation</dc:subject>
  <dc:creator>Francisco Medina</dc:creator>
  <cp:lastModifiedBy>Francisco Medina</cp:lastModifiedBy>
  <cp:revision>1</cp:revision>
  <dcterms:created xsi:type="dcterms:W3CDTF">2026-05-11T22:39:12Z</dcterms:created>
  <dcterms:modified xsi:type="dcterms:W3CDTF">2026-05-11T22:39:12Z</dcterms:modified>
</cp:coreProperties>
</file>